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webextensions/webextension1.xml" ContentType="application/vnd.ms-office.webextension+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6" r:id="rId9"/>
    <p:sldId id="265" r:id="rId10"/>
    <p:sldId id="263" r:id="rId11"/>
    <p:sldId id="264"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4510" autoAdjust="0"/>
  </p:normalViewPr>
  <p:slideViewPr>
    <p:cSldViewPr snapToGrid="0" snapToObjects="1">
      <p:cViewPr varScale="1">
        <p:scale>
          <a:sx n="59" d="100"/>
          <a:sy n="59" d="100"/>
        </p:scale>
        <p:origin x="2146" y="58"/>
      </p:cViewPr>
      <p:guideLst/>
    </p:cSldViewPr>
  </p:slideViewPr>
  <p:notesTextViewPr>
    <p:cViewPr>
      <p:scale>
        <a:sx n="1" d="1"/>
        <a:sy n="1" d="1"/>
      </p:scale>
      <p:origin x="0" y="-499"/>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2899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Good morning. My name is Kerry Basham, and this is Weather Vibes — a 7-day forecast you can actually feel.</a:t>
            </a:r>
          </a:p>
          <a:p>
            <a:pPr lvl="0"/>
            <a:r>
              <a:rPr lang="en-US" sz="1200" kern="1200" dirty="0">
                <a:solidFill>
                  <a:schemeClr val="tx1"/>
                </a:solidFill>
                <a:effectLst/>
                <a:latin typeface="+mn-lt"/>
                <a:ea typeface="+mn-ea"/>
                <a:cs typeface="+mn-cs"/>
              </a:rPr>
              <a:t>Over the next five minutes I will walk you through an end-to-end data engineering project that takes raw weather numbers and turns them into something people can actually use.</a:t>
            </a:r>
          </a:p>
          <a:p>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Here is the problem. Weather apps give you numbers. They tell you it is 87 degrees. They do not tell you what to do about that.</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What should I wear? Is this a stay-in day or a go-outside day? How bad is this week actually going to be?</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Weather Vibes answers those questions directly. It translates raw forecast data into 11 human-scale categories called vibes — each one paired with a description, an outfit recommendation, and an accessory callout.</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You can see four of those vibes at the bottom of the slide. Main Character Energy, Offensively Hot, Lo-Fi Chill Day, Dramatic Weather Era. These are not just labels — they are actionable daily decisions.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 data comes from the Open-</a:t>
            </a:r>
            <a:r>
              <a:rPr lang="en-US" sz="1200" kern="1200" dirty="0" err="1">
                <a:solidFill>
                  <a:schemeClr val="tx1"/>
                </a:solidFill>
                <a:effectLst/>
                <a:latin typeface="+mn-lt"/>
                <a:ea typeface="+mn-ea"/>
                <a:cs typeface="+mn-cs"/>
              </a:rPr>
              <a:t>Meteo</a:t>
            </a:r>
            <a:r>
              <a:rPr lang="en-US" sz="1200" kern="1200" dirty="0">
                <a:solidFill>
                  <a:schemeClr val="tx1"/>
                </a:solidFill>
                <a:effectLst/>
                <a:latin typeface="+mn-lt"/>
                <a:ea typeface="+mn-ea"/>
                <a:cs typeface="+mn-cs"/>
              </a:rPr>
              <a:t> API — a free, open weather service that requires no API key.</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We pull a 7-day daily forecast for Louisville, Kentucky. Six variables per day: apparent temperature max and min, precipitation sum in inches and hours, and then the max wind speed.</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We use apparent temp rather than actual temp because it includes humidity and wind speed which we can and does alter what it feels like outside.</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Also, notice we pull precipitation hours in addition to total inches. That is intentional. Three hours of light drizzle affects your day very differently than 30 minutes of heavy rain — and our vibe logic uses both signals to get the classification right.</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pipeline uses 5-retry logic and a one-hour response cache to handle any transient API issues.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 entire ETL pipeline runs as a single Python script — five stages from start to finish.</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Extract pulls the API data. </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Transform cleans it, casts types, rounds temperatures to whole numbers, and derives two new metrics: temp range and the weather vibe label.</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Validate runs seven named quality checks before anything touches the database. If any check fails the pipeline halts and logs a clear FAIL messages. So, nothing bad gets written.</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Load writes a four-table normalized schema to SQLite. </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Export produces five CSV files including forecast  fits  csv, which is the primary Power BI source.</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stats row at the bottom tells the story: 11 vibes, 7 rows per run, 7 quality checks, 4 database tables, 5 CSV exports.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One thing I want to emphasize here is that the</a:t>
            </a:r>
            <a:r>
              <a:rPr lang="en-US" dirty="0"/>
              <a:t> design decision to have the entire ETL workflow in a single Python script rather than a distributed pipeline connected to </a:t>
            </a:r>
            <a:r>
              <a:rPr lang="en-US" dirty="0" err="1"/>
              <a:t>Postgre</a:t>
            </a:r>
            <a:r>
              <a:rPr lang="en-US" dirty="0"/>
              <a:t> or </a:t>
            </a:r>
            <a:r>
              <a:rPr lang="en-US" dirty="0" err="1"/>
              <a:t>Supabase</a:t>
            </a:r>
            <a:r>
              <a:rPr lang="en-US" dirty="0"/>
              <a:t> came from a point of practicality.</a:t>
            </a:r>
          </a:p>
          <a:p>
            <a:endParaRPr lang="en-US" dirty="0"/>
          </a:p>
          <a:p>
            <a:r>
              <a:rPr lang="en-US" dirty="0"/>
              <a:t> I work on a managed desktop and cannot install new applications, which ruled out a local Postgres instance. By the time </a:t>
            </a:r>
            <a:r>
              <a:rPr lang="en-US" dirty="0" err="1"/>
              <a:t>Supabase</a:t>
            </a:r>
            <a:r>
              <a:rPr lang="en-US" dirty="0"/>
              <a:t> was introduced in the course materials, I was already deep enough into this pipeline that rebuilding the database layer would have meant scrapping weeks of validated, working code. </a:t>
            </a:r>
          </a:p>
          <a:p>
            <a:endParaRPr lang="en-US" dirty="0"/>
          </a:p>
          <a:p>
            <a:r>
              <a:rPr lang="en-US" dirty="0"/>
              <a:t>That said, I want to be clear that this was an informed tradeoff, not a gap in understanding. In a production environment, I understand you would absolutely separate the ETL orchestration from the database layer. The </a:t>
            </a:r>
            <a:r>
              <a:rPr lang="en-US" dirty="0" err="1"/>
              <a:t>SQLAlchemy</a:t>
            </a:r>
            <a:r>
              <a:rPr lang="en-US" dirty="0"/>
              <a:t> connection in this pipeline is written so that migrating from SQLite to Postgres is a single line change -- just the connection string. </a:t>
            </a:r>
          </a:p>
          <a:p>
            <a:endParaRPr lang="en-US" dirty="0"/>
          </a:p>
          <a:p>
            <a:r>
              <a:rPr lang="en-US" dirty="0"/>
              <a:t>The schema, the loading logic, the validation framework — none of that changes. The architecture is production-ready in everything except the database backend.  I did use Claude to help with portion of the project.</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So, moving onto the database schema…</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 schema is designed in two layers, which reflects something we covered in this course.</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Layer one is a normalized database in SQLite — four tables with primary and foreign key constraints: the forecast table, vibe dimension, fit recommendations, and a bridge table connecting them all.</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Layer two is what Power BI actually uses — a flat denormalized export called forecast fits. This is a SQL join of all three main tables, scoped to only the seven current forecast days, with explicit primary and foreign key columns so the star schema relationships are unambiguous.</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bottom half of this slide shows what Power BI sees: forecast fits as the central fact table, with vibe dimension and fit recommendations as the two dimension tables hanging off it.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 vibe classification engine uses dominance-first logic with four inputs. The strongest weather condition wins. Heavy rain plus strong wind is always Dramatic Weather Era regardless of temperature.</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One detail worth calling out: we use precipitation hours as a second rain signal in addition to total inches. Meaningful rain is defined as either 0.10 inches OR two or more hours of precipitation. That dual-signal approach makes the classification significantly more accurate. When adding this into the logic,  we went from ‘Existential Meh’ vibe being the catch all for the parameters that did not fit into the other vibes to adding a new vibe called ‘Hot Mess Express’.</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On the validation side, the pipeline runs seven named checks before any data is written. You can see them listed here — null check, duplicate detection, row count, temperature range, precipitation bounds, schema </a:t>
            </a:r>
            <a:r>
              <a:rPr lang="en-US" sz="1200" kern="1200" dirty="0" err="1">
                <a:solidFill>
                  <a:schemeClr val="tx1"/>
                </a:solidFill>
                <a:effectLst/>
                <a:latin typeface="+mn-lt"/>
                <a:ea typeface="+mn-ea"/>
                <a:cs typeface="+mn-cs"/>
              </a:rPr>
              <a:t>dtypes</a:t>
            </a:r>
            <a:r>
              <a:rPr lang="en-US" sz="1200" kern="1200" dirty="0">
                <a:solidFill>
                  <a:schemeClr val="tx1"/>
                </a:solidFill>
                <a:effectLst/>
                <a:latin typeface="+mn-lt"/>
                <a:ea typeface="+mn-ea"/>
                <a:cs typeface="+mn-cs"/>
              </a:rPr>
              <a:t>, and vibe completeness.</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Every check logs either PASS or FAIL with detail. If anything fails the pipeline raises an error and stops. No silent failures, no bad data getting written to the database.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This slide gives you the view of the Power BI dashboard</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At the top you have five  KPI cards — average high and low feels like temp, total precipitation by inches and hours, and then the average wind speed for the week.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bar chart on the right shows how many days fall into each vibe category this week.</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line chart shows seven days of daily highs and lows with the vibe emoji at each data point so you can see the conditions at a glance.</a:t>
            </a:r>
          </a:p>
          <a:p>
            <a:pPr lvl="0"/>
            <a:r>
              <a:rPr lang="en-US" sz="1200" kern="1200" dirty="0">
                <a:solidFill>
                  <a:schemeClr val="tx1"/>
                </a:solidFill>
                <a:effectLst/>
                <a:latin typeface="+mn-lt"/>
                <a:ea typeface="+mn-ea"/>
                <a:cs typeface="+mn-cs"/>
              </a:rPr>
              <a:t>The Vibe Forecast matrix shows the description and trigger parameters for each day. The Fit Recommendations matrix shows the outfit and accessory for each vibe.</a:t>
            </a:r>
          </a:p>
          <a:p>
            <a:pPr lvl="0"/>
            <a:endParaRPr lang="en-US" sz="1200" kern="1200" dirty="0">
              <a:solidFill>
                <a:schemeClr val="tx1"/>
              </a:solidFill>
              <a:effectLst/>
              <a:latin typeface="+mn-lt"/>
              <a:ea typeface="+mn-ea"/>
              <a:cs typeface="+mn-cs"/>
            </a:endParaRPr>
          </a:p>
          <a:p>
            <a:pPr lvl="0"/>
            <a:endParaRPr lang="en-US" sz="1200" kern="1200" dirty="0">
              <a:solidFill>
                <a:schemeClr val="tx1"/>
              </a:solidFill>
              <a:effectLst/>
              <a:latin typeface="+mn-lt"/>
              <a:ea typeface="+mn-ea"/>
              <a:cs typeface="+mn-cs"/>
            </a:endParaRPr>
          </a:p>
          <a:p>
            <a:pPr lvl="0"/>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pPr lvl="0"/>
            <a:r>
              <a:rPr lang="en-US" sz="1200" kern="1200" dirty="0">
                <a:solidFill>
                  <a:schemeClr val="tx1"/>
                </a:solidFill>
                <a:effectLst/>
                <a:latin typeface="+mn-lt"/>
                <a:ea typeface="+mn-ea"/>
                <a:cs typeface="+mn-cs"/>
              </a:rPr>
              <a:t>And here is where it gets interactive. When I filter to just Lo-Fi Chill Day, every visual updates.</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KPI cards, the chart, the matrices, all scoped to just the vibe.</a:t>
            </a:r>
          </a:p>
        </p:txBody>
      </p:sp>
    </p:spTree>
    <p:extLst>
      <p:ext uri="{BB962C8B-B14F-4D97-AF65-F5344CB8AC3E}">
        <p14:creationId xmlns:p14="http://schemas.microsoft.com/office/powerpoint/2010/main" val="30474529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Here we see more weather vibes that could be a part of a ‘Feels Like’ forecast.</a:t>
            </a:r>
          </a:p>
          <a:p>
            <a:endParaRPr lang="en-US" dirty="0"/>
          </a:p>
          <a:p>
            <a:r>
              <a:rPr lang="en-US" dirty="0"/>
              <a:t> For example, when a forecast includes apparent temperatures where it feels like 35 or colder, you would see the vibe:  ‘Just Let It Go Day’ </a:t>
            </a:r>
          </a:p>
          <a:p>
            <a:endParaRPr lang="en-US" dirty="0"/>
          </a:p>
          <a:p>
            <a:r>
              <a:rPr lang="en-US" dirty="0"/>
              <a:t>This vibe is described as cold and blustery with something to prove and includes a fit recommendation of a puffer jacket, thermal underwear, and a beany. It also includes recommending accessorizing with gloves and hand warmers.</a:t>
            </a:r>
          </a:p>
          <a:p>
            <a:endParaRPr lang="en-US" dirty="0"/>
          </a:p>
          <a:p>
            <a:endParaRPr lang="en-US" dirty="0"/>
          </a:p>
        </p:txBody>
      </p:sp>
    </p:spTree>
    <p:extLst>
      <p:ext uri="{BB962C8B-B14F-4D97-AF65-F5344CB8AC3E}">
        <p14:creationId xmlns:p14="http://schemas.microsoft.com/office/powerpoint/2010/main" val="41291330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Four insights I want to leave you with.</a:t>
            </a:r>
          </a:p>
          <a:p>
            <a:pPr lvl="0"/>
            <a:r>
              <a:rPr lang="en-US" sz="1200" kern="1200" dirty="0">
                <a:solidFill>
                  <a:schemeClr val="tx1"/>
                </a:solidFill>
                <a:effectLst/>
                <a:latin typeface="+mn-lt"/>
                <a:ea typeface="+mn-ea"/>
                <a:cs typeface="+mn-cs"/>
              </a:rPr>
              <a:t>First — temperature is only half the story. The temp range metric we derived shows daily volatility. A 77-degree day with a 30-degree swing requires a very different wardrobe than one with a 10-degree swing.</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Second — precipitation hours matter as much as total rain. The dual-signal approach is what makes this project more than just a basic weather lookup.</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Third — 86 degrees with rain is nothing like 65 degrees with rain. The Hot Mess Express vibe closed a real classification gap that existed in earlier versions of this pipeline.</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And fourth — vibes make forecasts actionable. Translating seven days of numeric data into 11 labeled categories enables filtering, comparison, and daily decision-making that raw numbers simply cannot support.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Here is what surprised me along the way or what I would do differently: </a:t>
            </a:r>
          </a:p>
          <a:p>
            <a:pPr lvl="0"/>
            <a:endParaRPr lang="en-US" sz="1200" kern="1200" dirty="0">
              <a:solidFill>
                <a:schemeClr val="tx1"/>
              </a:solidFill>
              <a:effectLst/>
              <a:latin typeface="+mn-lt"/>
              <a:ea typeface="+mn-ea"/>
              <a:cs typeface="+mn-cs"/>
            </a:endParaRP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First — vibe logic gaps. An 87-degree rainy day was being labeled Existential Meh in early versions because there was no temperature ceiling on the rain-based vibes. That fix taught me that edge cases in classification logic surface through real data, not theory.</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Second — schema evolution. The project grew from three tables to four, then I added a flat star schema export layer on top. Planning both layers from day one would have saved significant rework.</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Third — data type consistency. The Open-</a:t>
            </a:r>
            <a:r>
              <a:rPr lang="en-US" sz="1200" kern="1200" dirty="0" err="1">
                <a:solidFill>
                  <a:schemeClr val="tx1"/>
                </a:solidFill>
                <a:effectLst/>
                <a:latin typeface="+mn-lt"/>
                <a:ea typeface="+mn-ea"/>
                <a:cs typeface="+mn-cs"/>
              </a:rPr>
              <a:t>Meteo</a:t>
            </a:r>
            <a:r>
              <a:rPr lang="en-US" sz="1200" kern="1200" dirty="0">
                <a:solidFill>
                  <a:schemeClr val="tx1"/>
                </a:solidFill>
                <a:effectLst/>
                <a:latin typeface="+mn-lt"/>
                <a:ea typeface="+mn-ea"/>
                <a:cs typeface="+mn-cs"/>
              </a:rPr>
              <a:t> API returns float32. Standardizing to float64 early in the transform stage prevented downstream validation failures that were initially confusing to debug.</a:t>
            </a:r>
          </a:p>
          <a:p>
            <a:pPr lvl="0"/>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And Fourth – Pipeline as documentation - </a:t>
            </a:r>
            <a:r>
              <a:rPr lang="en-US" sz="1200" dirty="0">
                <a:solidFill>
                  <a:srgbClr val="9EB5D8"/>
                </a:solidFill>
                <a:latin typeface="Calibri" pitchFamily="34" charset="0"/>
                <a:ea typeface="Calibri" pitchFamily="34" charset="-122"/>
                <a:cs typeface="Calibri" pitchFamily="34" charset="-120"/>
              </a:rPr>
              <a:t>Investing in structured logging, named validation checks, and detailed docstrings made the 700-line script readable to anyone — including a professor who does not audit every line.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9EB5D8"/>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9EB5D8"/>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9EB5D8"/>
                </a:solidFill>
                <a:latin typeface="Calibri" pitchFamily="34" charset="0"/>
                <a:ea typeface="Calibri" pitchFamily="34" charset="-122"/>
                <a:cs typeface="Calibri" pitchFamily="34" charset="-120"/>
              </a:rPr>
              <a:t>I want to thank you for listening to my presentation, again my name is Kerry Basham . I did the best I could in this course as online student. </a:t>
            </a:r>
            <a:r>
              <a:rPr lang="en-US" sz="1200">
                <a:solidFill>
                  <a:srgbClr val="9EB5D8"/>
                </a:solidFill>
                <a:latin typeface="Calibri" pitchFamily="34" charset="0"/>
                <a:ea typeface="Calibri" pitchFamily="34" charset="-122"/>
                <a:cs typeface="Calibri" pitchFamily="34" charset="-120"/>
              </a:rPr>
              <a:t>Please </a:t>
            </a:r>
            <a:r>
              <a:rPr lang="en-US" sz="1200" dirty="0">
                <a:solidFill>
                  <a:srgbClr val="9EB5D8"/>
                </a:solidFill>
                <a:latin typeface="Calibri" pitchFamily="34" charset="0"/>
                <a:ea typeface="Calibri" pitchFamily="34" charset="-122"/>
                <a:cs typeface="Calibri" pitchFamily="34" charset="-120"/>
              </a:rPr>
              <a:t>feel free to reach out to me with any questions. And remember, your internal vibe is what matters most. May it shine, no matter what the vibe is outside.</a:t>
            </a:r>
            <a:endParaRPr lang="en-US" sz="1200" dirty="0"/>
          </a:p>
          <a:p>
            <a:pPr lvl="0"/>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6583680" y="-731520"/>
            <a:ext cx="4114800" cy="4114800"/>
          </a:xfrm>
          <a:prstGeom prst="ellipse">
            <a:avLst/>
          </a:prstGeom>
          <a:solidFill>
            <a:srgbClr val="243580"/>
          </a:solidFill>
          <a:ln w="12700">
            <a:solidFill>
              <a:srgbClr val="243580"/>
            </a:solidFill>
            <a:prstDash val="solid"/>
          </a:ln>
        </p:spPr>
        <p:txBody>
          <a:bodyPr/>
          <a:lstStyle/>
          <a:p>
            <a:endParaRPr lang="en-US"/>
          </a:p>
        </p:txBody>
      </p:sp>
      <p:sp>
        <p:nvSpPr>
          <p:cNvPr id="3" name="Shape 1"/>
          <p:cNvSpPr/>
          <p:nvPr/>
        </p:nvSpPr>
        <p:spPr>
          <a:xfrm>
            <a:off x="-1097280" y="2926080"/>
            <a:ext cx="3200400" cy="3200400"/>
          </a:xfrm>
          <a:prstGeom prst="ellipse">
            <a:avLst/>
          </a:prstGeom>
          <a:solidFill>
            <a:srgbClr val="162050"/>
          </a:solidFill>
          <a:ln w="12700">
            <a:solidFill>
              <a:srgbClr val="162050"/>
            </a:solidFill>
            <a:prstDash val="solid"/>
          </a:ln>
        </p:spPr>
        <p:txBody>
          <a:bodyPr/>
          <a:lstStyle/>
          <a:p>
            <a:endParaRPr lang="en-US"/>
          </a:p>
        </p:txBody>
      </p:sp>
      <p:sp>
        <p:nvSpPr>
          <p:cNvPr id="4" name="Text 2"/>
          <p:cNvSpPr/>
          <p:nvPr/>
        </p:nvSpPr>
        <p:spPr>
          <a:xfrm>
            <a:off x="548640" y="822960"/>
            <a:ext cx="7772400" cy="1005840"/>
          </a:xfrm>
          <a:prstGeom prst="rect">
            <a:avLst/>
          </a:prstGeom>
          <a:noFill/>
          <a:ln/>
        </p:spPr>
        <p:txBody>
          <a:bodyPr wrap="square"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Weather Vibes</a:t>
            </a:r>
            <a:endParaRPr lang="en-US" sz="4800" dirty="0"/>
          </a:p>
        </p:txBody>
      </p:sp>
      <p:sp>
        <p:nvSpPr>
          <p:cNvPr id="5" name="Text 3"/>
          <p:cNvSpPr/>
          <p:nvPr/>
        </p:nvSpPr>
        <p:spPr>
          <a:xfrm>
            <a:off x="548640" y="1920240"/>
            <a:ext cx="7772400" cy="502920"/>
          </a:xfrm>
          <a:prstGeom prst="rect">
            <a:avLst/>
          </a:prstGeom>
          <a:noFill/>
          <a:ln/>
        </p:spPr>
        <p:txBody>
          <a:bodyPr wrap="square" rtlCol="0" anchor="ctr"/>
          <a:lstStyle/>
          <a:p>
            <a:pPr marL="0" indent="0">
              <a:buNone/>
            </a:pPr>
            <a:r>
              <a:rPr lang="en-US" sz="2200" i="1" dirty="0">
                <a:solidFill>
                  <a:srgbClr val="CADCFC"/>
                </a:solidFill>
                <a:latin typeface="Calibri" pitchFamily="34" charset="0"/>
                <a:ea typeface="Calibri" pitchFamily="34" charset="-122"/>
                <a:cs typeface="Calibri" pitchFamily="34" charset="-120"/>
              </a:rPr>
              <a:t>A 7-Day Forecast You Can Actually Feel</a:t>
            </a:r>
            <a:endParaRPr lang="en-US" sz="2200" dirty="0"/>
          </a:p>
        </p:txBody>
      </p:sp>
      <p:sp>
        <p:nvSpPr>
          <p:cNvPr id="6" name="Shape 4"/>
          <p:cNvSpPr/>
          <p:nvPr/>
        </p:nvSpPr>
        <p:spPr>
          <a:xfrm>
            <a:off x="548640" y="2651760"/>
            <a:ext cx="1463040" cy="54864"/>
          </a:xfrm>
          <a:prstGeom prst="rect">
            <a:avLst/>
          </a:prstGeom>
          <a:solidFill>
            <a:srgbClr val="4FC3F7"/>
          </a:solidFill>
          <a:ln w="12700">
            <a:solidFill>
              <a:srgbClr val="4FC3F7"/>
            </a:solidFill>
            <a:prstDash val="solid"/>
          </a:ln>
        </p:spPr>
        <p:txBody>
          <a:bodyPr/>
          <a:lstStyle/>
          <a:p>
            <a:endParaRPr lang="en-US"/>
          </a:p>
        </p:txBody>
      </p:sp>
      <p:sp>
        <p:nvSpPr>
          <p:cNvPr id="7" name="Text 5"/>
          <p:cNvSpPr/>
          <p:nvPr/>
        </p:nvSpPr>
        <p:spPr>
          <a:xfrm>
            <a:off x="548640" y="2834640"/>
            <a:ext cx="6400800" cy="1097280"/>
          </a:xfrm>
          <a:prstGeom prst="rect">
            <a:avLst/>
          </a:prstGeom>
          <a:noFill/>
          <a:ln/>
        </p:spPr>
        <p:txBody>
          <a:bodyPr wrap="square" rtlCol="0" anchor="ctr"/>
          <a:lstStyle/>
          <a:p>
            <a:pPr marL="0" indent="0">
              <a:buNone/>
            </a:pPr>
            <a:r>
              <a:rPr lang="en-US" sz="1400" b="1" dirty="0">
                <a:solidFill>
                  <a:srgbClr val="7B9CDA"/>
                </a:solidFill>
                <a:latin typeface="Calibri" pitchFamily="34" charset="0"/>
                <a:ea typeface="Calibri" pitchFamily="34" charset="-122"/>
                <a:cs typeface="Calibri" pitchFamily="34" charset="-120"/>
              </a:rPr>
              <a:t>Kerry Basham</a:t>
            </a:r>
            <a:endParaRPr lang="en-US" sz="1400" dirty="0"/>
          </a:p>
          <a:p>
            <a:pPr marL="0" indent="0">
              <a:buNone/>
            </a:pPr>
            <a:r>
              <a:rPr lang="en-US" sz="1400" dirty="0">
                <a:solidFill>
                  <a:srgbClr val="7B9CDA"/>
                </a:solidFill>
                <a:latin typeface="Calibri" pitchFamily="34" charset="0"/>
                <a:ea typeface="Calibri" pitchFamily="34" charset="-122"/>
                <a:cs typeface="Calibri" pitchFamily="34" charset="-120"/>
              </a:rPr>
              <a:t>End-to-End Data Engineering Project</a:t>
            </a:r>
            <a:endParaRPr lang="en-US" sz="1400" dirty="0"/>
          </a:p>
          <a:p>
            <a:pPr marL="0" indent="0">
              <a:buNone/>
            </a:pPr>
            <a:r>
              <a:rPr lang="en-US" sz="1400" dirty="0">
                <a:solidFill>
                  <a:srgbClr val="7B9CDA"/>
                </a:solidFill>
                <a:latin typeface="Calibri" pitchFamily="34" charset="0"/>
                <a:ea typeface="Calibri" pitchFamily="34" charset="-122"/>
                <a:cs typeface="Calibri" pitchFamily="34" charset="-120"/>
              </a:rPr>
              <a:t>MSBA-692 Pipelines to Insights</a:t>
            </a:r>
            <a:endParaRPr lang="en-US" sz="1400" dirty="0"/>
          </a:p>
        </p:txBody>
      </p:sp>
      <p:sp>
        <p:nvSpPr>
          <p:cNvPr id="8" name="Text 6"/>
          <p:cNvSpPr/>
          <p:nvPr/>
        </p:nvSpPr>
        <p:spPr>
          <a:xfrm>
            <a:off x="0" y="4663440"/>
            <a:ext cx="9144000" cy="365760"/>
          </a:xfrm>
          <a:prstGeom prst="rect">
            <a:avLst/>
          </a:prstGeom>
          <a:noFill/>
          <a:ln/>
        </p:spPr>
        <p:txBody>
          <a:bodyPr wrap="square" rtlCol="0" anchor="ctr"/>
          <a:lstStyle/>
          <a:p>
            <a:pPr marL="0" indent="0" algn="ctr">
              <a:buNone/>
            </a:pPr>
            <a:r>
              <a:rPr lang="en-US" sz="1100" dirty="0">
                <a:solidFill>
                  <a:srgbClr val="3A5080"/>
                </a:solidFill>
                <a:latin typeface="Calibri" pitchFamily="34" charset="0"/>
                <a:ea typeface="Calibri" pitchFamily="34" charset="-122"/>
                <a:cs typeface="Calibri" pitchFamily="34" charset="-120"/>
              </a:rPr>
              <a:t>Louisville, KY  |  Open-Meteo API  |  Python + SQLite + Power BI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E"/>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w="12700">
            <a:solidFill>
              <a:srgbClr val="1E2761"/>
            </a:solidFill>
            <a:prstDash val="solid"/>
          </a:ln>
        </p:spPr>
        <p:txBody>
          <a:bodyPr/>
          <a:lstStyle/>
          <a:p>
            <a:endParaRPr lang="en-US"/>
          </a:p>
        </p:txBody>
      </p:sp>
      <p:sp>
        <p:nvSpPr>
          <p:cNvPr id="3" name="Text 1"/>
          <p:cNvSpPr/>
          <p:nvPr/>
        </p:nvSpPr>
        <p:spPr>
          <a:xfrm>
            <a:off x="365760" y="0"/>
            <a:ext cx="8229600" cy="6858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Business Problem</a:t>
            </a:r>
            <a:endParaRPr lang="en-US" sz="2200" dirty="0"/>
          </a:p>
        </p:txBody>
      </p:sp>
      <p:sp>
        <p:nvSpPr>
          <p:cNvPr id="4" name="Shape 2"/>
          <p:cNvSpPr/>
          <p:nvPr/>
        </p:nvSpPr>
        <p:spPr>
          <a:xfrm>
            <a:off x="320040" y="914400"/>
            <a:ext cx="3931920" cy="3291840"/>
          </a:xfrm>
          <a:prstGeom prst="rect">
            <a:avLst/>
          </a:prstGeom>
          <a:solidFill>
            <a:srgbClr val="FFFFFF"/>
          </a:solidFill>
          <a:ln w="12700">
            <a:solidFill>
              <a:srgbClr val="D0D8F0"/>
            </a:solidFill>
            <a:prstDash val="solid"/>
          </a:ln>
        </p:spPr>
        <p:txBody>
          <a:bodyPr/>
          <a:lstStyle/>
          <a:p>
            <a:endParaRPr lang="en-US"/>
          </a:p>
        </p:txBody>
      </p:sp>
      <p:sp>
        <p:nvSpPr>
          <p:cNvPr id="5" name="Text 3"/>
          <p:cNvSpPr/>
          <p:nvPr/>
        </p:nvSpPr>
        <p:spPr>
          <a:xfrm>
            <a:off x="502920" y="1051560"/>
            <a:ext cx="356616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The Gap</a:t>
            </a:r>
            <a:endParaRPr lang="en-US" sz="1500" dirty="0"/>
          </a:p>
        </p:txBody>
      </p:sp>
      <p:sp>
        <p:nvSpPr>
          <p:cNvPr id="6" name="Text 4"/>
          <p:cNvSpPr/>
          <p:nvPr/>
        </p:nvSpPr>
        <p:spPr>
          <a:xfrm>
            <a:off x="502920" y="1508760"/>
            <a:ext cx="3566160" cy="2468880"/>
          </a:xfrm>
          <a:prstGeom prst="rect">
            <a:avLst/>
          </a:prstGeom>
          <a:noFill/>
          <a:ln/>
        </p:spPr>
        <p:txBody>
          <a:bodyPr wrap="square" rtlCol="0" anchor="t"/>
          <a:lstStyle/>
          <a:p>
            <a:pPr marL="0" indent="0">
              <a:buNone/>
            </a:pPr>
            <a:r>
              <a:rPr lang="en-US" sz="1300" dirty="0">
                <a:solidFill>
                  <a:srgbClr val="333355"/>
                </a:solidFill>
                <a:latin typeface="Calibri" pitchFamily="34" charset="0"/>
                <a:ea typeface="Calibri" pitchFamily="34" charset="-122"/>
                <a:cs typeface="Calibri" pitchFamily="34" charset="-120"/>
              </a:rPr>
              <a:t>Weather apps give you numbers.</a:t>
            </a:r>
            <a:endParaRPr lang="en-US" sz="1300" dirty="0"/>
          </a:p>
          <a:p>
            <a:pPr marL="0" indent="0">
              <a:buNone/>
            </a:pPr>
            <a:r>
              <a:rPr lang="en-US" sz="1300" dirty="0">
                <a:solidFill>
                  <a:srgbClr val="333355"/>
                </a:solidFill>
                <a:latin typeface="Calibri" pitchFamily="34" charset="0"/>
                <a:ea typeface="Calibri" pitchFamily="34" charset="-122"/>
                <a:cs typeface="Calibri" pitchFamily="34" charset="-120"/>
              </a:rPr>
              <a:t> </a:t>
            </a:r>
            <a:endParaRPr lang="en-US" sz="1300" dirty="0"/>
          </a:p>
          <a:p>
            <a:pPr marL="0" indent="0">
              <a:buNone/>
            </a:pPr>
            <a:r>
              <a:rPr lang="en-US" sz="1300" dirty="0">
                <a:solidFill>
                  <a:srgbClr val="333355"/>
                </a:solidFill>
                <a:latin typeface="Calibri" pitchFamily="34" charset="0"/>
                <a:ea typeface="Calibri" pitchFamily="34" charset="-122"/>
                <a:cs typeface="Calibri" pitchFamily="34" charset="-120"/>
              </a:rPr>
              <a:t>They tell you it is 87°F.</a:t>
            </a:r>
            <a:endParaRPr lang="en-US" sz="1300" dirty="0"/>
          </a:p>
          <a:p>
            <a:pPr marL="0" indent="0">
              <a:buNone/>
            </a:pPr>
            <a:r>
              <a:rPr lang="en-US" sz="1300" dirty="0">
                <a:solidFill>
                  <a:srgbClr val="333355"/>
                </a:solidFill>
                <a:latin typeface="Calibri" pitchFamily="34" charset="0"/>
                <a:ea typeface="Calibri" pitchFamily="34" charset="-122"/>
                <a:cs typeface="Calibri" pitchFamily="34" charset="-120"/>
              </a:rPr>
              <a:t>They do not tell you what to do about it.</a:t>
            </a:r>
            <a:endParaRPr lang="en-US" sz="1300" dirty="0"/>
          </a:p>
          <a:p>
            <a:pPr marL="0" indent="0">
              <a:buNone/>
            </a:pPr>
            <a:r>
              <a:rPr lang="en-US" sz="1300" dirty="0">
                <a:solidFill>
                  <a:srgbClr val="333355"/>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333355"/>
                </a:solidFill>
                <a:latin typeface="Calibri" pitchFamily="34" charset="0"/>
                <a:ea typeface="Calibri" pitchFamily="34" charset="-122"/>
                <a:cs typeface="Calibri" pitchFamily="34" charset="-120"/>
              </a:rPr>
              <a:t>What should I wear today?</a:t>
            </a:r>
            <a:endParaRPr lang="en-US" sz="1300" dirty="0"/>
          </a:p>
          <a:p>
            <a:pPr marL="0" indent="0">
              <a:buNone/>
            </a:pPr>
            <a:r>
              <a:rPr lang="en-US" sz="1300" b="1" dirty="0">
                <a:solidFill>
                  <a:srgbClr val="333355"/>
                </a:solidFill>
                <a:latin typeface="Calibri" pitchFamily="34" charset="0"/>
                <a:ea typeface="Calibri" pitchFamily="34" charset="-122"/>
                <a:cs typeface="Calibri" pitchFamily="34" charset="-120"/>
              </a:rPr>
              <a:t>Is this a stay-in day or a go-outside day?</a:t>
            </a:r>
            <a:endParaRPr lang="en-US" sz="1300" dirty="0"/>
          </a:p>
          <a:p>
            <a:pPr marL="0" indent="0">
              <a:buNone/>
            </a:pPr>
            <a:r>
              <a:rPr lang="en-US" sz="1300" b="1" dirty="0">
                <a:solidFill>
                  <a:srgbClr val="333355"/>
                </a:solidFill>
                <a:latin typeface="Calibri" pitchFamily="34" charset="0"/>
                <a:ea typeface="Calibri" pitchFamily="34" charset="-122"/>
                <a:cs typeface="Calibri" pitchFamily="34" charset="-120"/>
              </a:rPr>
              <a:t>How bad is this week actually going to be?</a:t>
            </a:r>
            <a:endParaRPr lang="en-US" sz="1300" dirty="0"/>
          </a:p>
        </p:txBody>
      </p:sp>
      <p:sp>
        <p:nvSpPr>
          <p:cNvPr id="7" name="Shape 5"/>
          <p:cNvSpPr/>
          <p:nvPr/>
        </p:nvSpPr>
        <p:spPr>
          <a:xfrm>
            <a:off x="4572000" y="914400"/>
            <a:ext cx="4206240" cy="3291840"/>
          </a:xfrm>
          <a:prstGeom prst="rect">
            <a:avLst/>
          </a:prstGeom>
          <a:solidFill>
            <a:srgbClr val="1E2761"/>
          </a:solidFill>
          <a:ln w="12700">
            <a:solidFill>
              <a:srgbClr val="1E2761"/>
            </a:solidFill>
            <a:prstDash val="solid"/>
          </a:ln>
        </p:spPr>
        <p:txBody>
          <a:bodyPr/>
          <a:lstStyle/>
          <a:p>
            <a:endParaRPr lang="en-US"/>
          </a:p>
        </p:txBody>
      </p:sp>
      <p:sp>
        <p:nvSpPr>
          <p:cNvPr id="8" name="Text 6"/>
          <p:cNvSpPr/>
          <p:nvPr/>
        </p:nvSpPr>
        <p:spPr>
          <a:xfrm>
            <a:off x="4754880" y="1051560"/>
            <a:ext cx="3840480" cy="365760"/>
          </a:xfrm>
          <a:prstGeom prst="rect">
            <a:avLst/>
          </a:prstGeom>
          <a:noFill/>
          <a:ln/>
        </p:spPr>
        <p:txBody>
          <a:bodyPr wrap="square" rtlCol="0" anchor="ctr"/>
          <a:lstStyle/>
          <a:p>
            <a:pPr marL="0" indent="0">
              <a:buNone/>
            </a:pPr>
            <a:r>
              <a:rPr lang="en-US" sz="1500" b="1" dirty="0">
                <a:solidFill>
                  <a:srgbClr val="CADCFC"/>
                </a:solidFill>
                <a:latin typeface="Calibri" pitchFamily="34" charset="0"/>
                <a:ea typeface="Calibri" pitchFamily="34" charset="-122"/>
                <a:cs typeface="Calibri" pitchFamily="34" charset="-120"/>
              </a:rPr>
              <a:t>The Solution</a:t>
            </a:r>
            <a:endParaRPr lang="en-US" sz="1500" dirty="0"/>
          </a:p>
        </p:txBody>
      </p:sp>
      <p:sp>
        <p:nvSpPr>
          <p:cNvPr id="9" name="Text 7"/>
          <p:cNvSpPr/>
          <p:nvPr/>
        </p:nvSpPr>
        <p:spPr>
          <a:xfrm>
            <a:off x="4754880" y="1508760"/>
            <a:ext cx="3840480" cy="2468880"/>
          </a:xfrm>
          <a:prstGeom prst="rect">
            <a:avLst/>
          </a:prstGeom>
          <a:noFill/>
          <a:ln/>
        </p:spPr>
        <p:txBody>
          <a:bodyPr wrap="square" rtlCol="0" anchor="t"/>
          <a:lstStyle/>
          <a:p>
            <a:pPr marL="0" indent="0">
              <a:buNone/>
            </a:pPr>
            <a:r>
              <a:rPr lang="en-US" sz="1300" dirty="0">
                <a:solidFill>
                  <a:srgbClr val="FFFFFF"/>
                </a:solidFill>
                <a:latin typeface="Calibri" pitchFamily="34" charset="0"/>
                <a:ea typeface="Calibri" pitchFamily="34" charset="-122"/>
                <a:cs typeface="Calibri" pitchFamily="34" charset="-120"/>
              </a:rPr>
              <a:t>Weather Vibes translates raw forecast data into 11 human-scale categories that answer those questions directly.</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 </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Each vibe comes with an outfit recommendation, an accessory callout, and a plain-language description of the day.</a:t>
            </a:r>
            <a:endParaRPr lang="en-US" sz="1300" dirty="0"/>
          </a:p>
        </p:txBody>
      </p:sp>
      <p:sp>
        <p:nvSpPr>
          <p:cNvPr id="10" name="Shape 8"/>
          <p:cNvSpPr/>
          <p:nvPr/>
        </p:nvSpPr>
        <p:spPr>
          <a:xfrm>
            <a:off x="320040" y="4370832"/>
            <a:ext cx="1965960" cy="594360"/>
          </a:xfrm>
          <a:prstGeom prst="rect">
            <a:avLst/>
          </a:prstGeom>
          <a:solidFill>
            <a:srgbClr val="CADCFC"/>
          </a:solidFill>
          <a:ln w="12700">
            <a:solidFill>
              <a:srgbClr val="CADCFC"/>
            </a:solidFill>
            <a:prstDash val="solid"/>
          </a:ln>
        </p:spPr>
        <p:txBody>
          <a:bodyPr/>
          <a:lstStyle/>
          <a:p>
            <a:endParaRPr lang="en-US"/>
          </a:p>
        </p:txBody>
      </p:sp>
      <p:sp>
        <p:nvSpPr>
          <p:cNvPr id="11" name="Text 9"/>
          <p:cNvSpPr/>
          <p:nvPr/>
        </p:nvSpPr>
        <p:spPr>
          <a:xfrm>
            <a:off x="393192" y="4389120"/>
            <a:ext cx="1828800" cy="548640"/>
          </a:xfrm>
          <a:prstGeom prst="rect">
            <a:avLst/>
          </a:prstGeom>
          <a:noFill/>
          <a:ln/>
        </p:spPr>
        <p:txBody>
          <a:bodyPr wrap="square" rtlCol="0" anchor="ctr"/>
          <a:lstStyle/>
          <a:p>
            <a:pPr marL="0" indent="0">
              <a:buNone/>
            </a:pPr>
            <a:r>
              <a:rPr lang="en-US" sz="1100" dirty="0">
                <a:solidFill>
                  <a:srgbClr val="1E2761"/>
                </a:solidFill>
                <a:latin typeface="Calibri" pitchFamily="34" charset="0"/>
                <a:ea typeface="Calibri" pitchFamily="34" charset="-122"/>
                <a:cs typeface="Calibri" pitchFamily="34" charset="-120"/>
              </a:rPr>
              <a:t>😎  Main Character</a:t>
            </a:r>
            <a:endParaRPr lang="en-US" sz="1100" dirty="0"/>
          </a:p>
          <a:p>
            <a:pPr marL="0" indent="0">
              <a:buNone/>
            </a:pPr>
            <a:r>
              <a:rPr lang="en-US" sz="1100" dirty="0">
                <a:solidFill>
                  <a:srgbClr val="1E2761"/>
                </a:solidFill>
                <a:latin typeface="Calibri" pitchFamily="34" charset="0"/>
                <a:ea typeface="Calibri" pitchFamily="34" charset="-122"/>
                <a:cs typeface="Calibri" pitchFamily="34" charset="-120"/>
              </a:rPr>
              <a:t>Energy</a:t>
            </a:r>
            <a:endParaRPr lang="en-US" sz="1100" dirty="0"/>
          </a:p>
        </p:txBody>
      </p:sp>
      <p:sp>
        <p:nvSpPr>
          <p:cNvPr id="12" name="Shape 10"/>
          <p:cNvSpPr/>
          <p:nvPr/>
        </p:nvSpPr>
        <p:spPr>
          <a:xfrm>
            <a:off x="2450592" y="4370832"/>
            <a:ext cx="1965960" cy="594360"/>
          </a:xfrm>
          <a:prstGeom prst="rect">
            <a:avLst/>
          </a:prstGeom>
          <a:solidFill>
            <a:srgbClr val="CADCFC"/>
          </a:solidFill>
          <a:ln w="12700">
            <a:solidFill>
              <a:srgbClr val="CADCFC"/>
            </a:solidFill>
            <a:prstDash val="solid"/>
          </a:ln>
        </p:spPr>
        <p:txBody>
          <a:bodyPr/>
          <a:lstStyle/>
          <a:p>
            <a:endParaRPr lang="en-US"/>
          </a:p>
        </p:txBody>
      </p:sp>
      <p:sp>
        <p:nvSpPr>
          <p:cNvPr id="13" name="Text 11"/>
          <p:cNvSpPr/>
          <p:nvPr/>
        </p:nvSpPr>
        <p:spPr>
          <a:xfrm>
            <a:off x="2523744" y="4389120"/>
            <a:ext cx="1828800" cy="548640"/>
          </a:xfrm>
          <a:prstGeom prst="rect">
            <a:avLst/>
          </a:prstGeom>
          <a:noFill/>
          <a:ln/>
        </p:spPr>
        <p:txBody>
          <a:bodyPr wrap="square" rtlCol="0" anchor="ctr"/>
          <a:lstStyle/>
          <a:p>
            <a:pPr marL="0" indent="0">
              <a:buNone/>
            </a:pPr>
            <a:r>
              <a:rPr lang="en-US" sz="1100" dirty="0">
                <a:solidFill>
                  <a:srgbClr val="1E2761"/>
                </a:solidFill>
                <a:latin typeface="Calibri" pitchFamily="34" charset="0"/>
                <a:ea typeface="Calibri" pitchFamily="34" charset="-122"/>
                <a:cs typeface="Calibri" pitchFamily="34" charset="-120"/>
              </a:rPr>
              <a:t>🥵  Offensively</a:t>
            </a:r>
            <a:endParaRPr lang="en-US" sz="1100" dirty="0"/>
          </a:p>
          <a:p>
            <a:pPr marL="0" indent="0">
              <a:buNone/>
            </a:pPr>
            <a:r>
              <a:rPr lang="en-US" sz="1100" dirty="0">
                <a:solidFill>
                  <a:srgbClr val="1E2761"/>
                </a:solidFill>
                <a:latin typeface="Calibri" pitchFamily="34" charset="0"/>
                <a:ea typeface="Calibri" pitchFamily="34" charset="-122"/>
                <a:cs typeface="Calibri" pitchFamily="34" charset="-120"/>
              </a:rPr>
              <a:t>Hot</a:t>
            </a:r>
            <a:endParaRPr lang="en-US" sz="1100" dirty="0"/>
          </a:p>
        </p:txBody>
      </p:sp>
      <p:sp>
        <p:nvSpPr>
          <p:cNvPr id="14" name="Shape 12"/>
          <p:cNvSpPr/>
          <p:nvPr/>
        </p:nvSpPr>
        <p:spPr>
          <a:xfrm>
            <a:off x="4581144" y="4370832"/>
            <a:ext cx="1965960" cy="594360"/>
          </a:xfrm>
          <a:prstGeom prst="rect">
            <a:avLst/>
          </a:prstGeom>
          <a:solidFill>
            <a:srgbClr val="CADCFC"/>
          </a:solidFill>
          <a:ln w="12700">
            <a:solidFill>
              <a:srgbClr val="CADCFC"/>
            </a:solidFill>
            <a:prstDash val="solid"/>
          </a:ln>
        </p:spPr>
        <p:txBody>
          <a:bodyPr/>
          <a:lstStyle/>
          <a:p>
            <a:endParaRPr lang="en-US"/>
          </a:p>
        </p:txBody>
      </p:sp>
      <p:sp>
        <p:nvSpPr>
          <p:cNvPr id="15" name="Text 13"/>
          <p:cNvSpPr/>
          <p:nvPr/>
        </p:nvSpPr>
        <p:spPr>
          <a:xfrm>
            <a:off x="4654296" y="4389120"/>
            <a:ext cx="1828800" cy="548640"/>
          </a:xfrm>
          <a:prstGeom prst="rect">
            <a:avLst/>
          </a:prstGeom>
          <a:noFill/>
          <a:ln/>
        </p:spPr>
        <p:txBody>
          <a:bodyPr wrap="square" rtlCol="0" anchor="ctr"/>
          <a:lstStyle/>
          <a:p>
            <a:pPr marL="0" indent="0">
              <a:buNone/>
            </a:pPr>
            <a:r>
              <a:rPr lang="en-US" sz="1100" dirty="0">
                <a:solidFill>
                  <a:srgbClr val="1E2761"/>
                </a:solidFill>
                <a:latin typeface="Calibri" pitchFamily="34" charset="0"/>
                <a:ea typeface="Calibri" pitchFamily="34" charset="-122"/>
                <a:cs typeface="Calibri" pitchFamily="34" charset="-120"/>
              </a:rPr>
              <a:t>🌧️  Lo-Fi</a:t>
            </a:r>
            <a:endParaRPr lang="en-US" sz="1100" dirty="0"/>
          </a:p>
          <a:p>
            <a:pPr marL="0" indent="0">
              <a:buNone/>
            </a:pPr>
            <a:r>
              <a:rPr lang="en-US" sz="1100" dirty="0">
                <a:solidFill>
                  <a:srgbClr val="1E2761"/>
                </a:solidFill>
                <a:latin typeface="Calibri" pitchFamily="34" charset="0"/>
                <a:ea typeface="Calibri" pitchFamily="34" charset="-122"/>
                <a:cs typeface="Calibri" pitchFamily="34" charset="-120"/>
              </a:rPr>
              <a:t>Chill Day</a:t>
            </a:r>
            <a:endParaRPr lang="en-US" sz="1100" dirty="0"/>
          </a:p>
        </p:txBody>
      </p:sp>
      <p:sp>
        <p:nvSpPr>
          <p:cNvPr id="16" name="Shape 14"/>
          <p:cNvSpPr/>
          <p:nvPr/>
        </p:nvSpPr>
        <p:spPr>
          <a:xfrm>
            <a:off x="6711696" y="4370832"/>
            <a:ext cx="1965960" cy="594360"/>
          </a:xfrm>
          <a:prstGeom prst="rect">
            <a:avLst/>
          </a:prstGeom>
          <a:solidFill>
            <a:srgbClr val="CADCFC"/>
          </a:solidFill>
          <a:ln w="12700">
            <a:solidFill>
              <a:srgbClr val="CADCFC"/>
            </a:solidFill>
            <a:prstDash val="solid"/>
          </a:ln>
        </p:spPr>
        <p:txBody>
          <a:bodyPr/>
          <a:lstStyle/>
          <a:p>
            <a:endParaRPr lang="en-US"/>
          </a:p>
        </p:txBody>
      </p:sp>
      <p:sp>
        <p:nvSpPr>
          <p:cNvPr id="17" name="Text 15"/>
          <p:cNvSpPr/>
          <p:nvPr/>
        </p:nvSpPr>
        <p:spPr>
          <a:xfrm>
            <a:off x="6784848" y="4389120"/>
            <a:ext cx="1828800" cy="548640"/>
          </a:xfrm>
          <a:prstGeom prst="rect">
            <a:avLst/>
          </a:prstGeom>
          <a:noFill/>
          <a:ln/>
        </p:spPr>
        <p:txBody>
          <a:bodyPr wrap="square" rtlCol="0" anchor="ctr"/>
          <a:lstStyle/>
          <a:p>
            <a:pPr marL="0" indent="0">
              <a:buNone/>
            </a:pPr>
            <a:r>
              <a:rPr lang="en-US" sz="1100" dirty="0">
                <a:solidFill>
                  <a:srgbClr val="1E2761"/>
                </a:solidFill>
                <a:latin typeface="Calibri" pitchFamily="34" charset="0"/>
                <a:ea typeface="Calibri" pitchFamily="34" charset="-122"/>
                <a:cs typeface="Calibri" pitchFamily="34" charset="-120"/>
              </a:rPr>
              <a:t>⛈️  Dramatic</a:t>
            </a:r>
            <a:endParaRPr lang="en-US" sz="1100" dirty="0"/>
          </a:p>
          <a:p>
            <a:pPr marL="0" indent="0">
              <a:buNone/>
            </a:pPr>
            <a:r>
              <a:rPr lang="en-US" sz="1100" dirty="0">
                <a:solidFill>
                  <a:srgbClr val="1E2761"/>
                </a:solidFill>
                <a:latin typeface="Calibri" pitchFamily="34" charset="0"/>
                <a:ea typeface="Calibri" pitchFamily="34" charset="-122"/>
                <a:cs typeface="Calibri" pitchFamily="34" charset="-120"/>
              </a:rPr>
              <a:t>Weather Era</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E"/>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w="12700">
            <a:solidFill>
              <a:srgbClr val="1E2761"/>
            </a:solidFill>
            <a:prstDash val="solid"/>
          </a:ln>
        </p:spPr>
        <p:txBody>
          <a:bodyPr/>
          <a:lstStyle/>
          <a:p>
            <a:endParaRPr lang="en-US"/>
          </a:p>
        </p:txBody>
      </p:sp>
      <p:sp>
        <p:nvSpPr>
          <p:cNvPr id="3" name="Text 1"/>
          <p:cNvSpPr/>
          <p:nvPr/>
        </p:nvSpPr>
        <p:spPr>
          <a:xfrm>
            <a:off x="365760" y="0"/>
            <a:ext cx="8229600" cy="6858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Source</a:t>
            </a:r>
            <a:endParaRPr lang="en-US" sz="2200" dirty="0"/>
          </a:p>
        </p:txBody>
      </p:sp>
      <p:sp>
        <p:nvSpPr>
          <p:cNvPr id="4" name="Shape 2"/>
          <p:cNvSpPr/>
          <p:nvPr/>
        </p:nvSpPr>
        <p:spPr>
          <a:xfrm>
            <a:off x="320040" y="868680"/>
            <a:ext cx="5303520" cy="4023360"/>
          </a:xfrm>
          <a:prstGeom prst="rect">
            <a:avLst/>
          </a:prstGeom>
          <a:solidFill>
            <a:srgbClr val="FFFFFF"/>
          </a:solidFill>
          <a:ln w="12700">
            <a:solidFill>
              <a:srgbClr val="D0D8F0"/>
            </a:solidFill>
            <a:prstDash val="solid"/>
          </a:ln>
        </p:spPr>
        <p:txBody>
          <a:bodyPr/>
          <a:lstStyle/>
          <a:p>
            <a:endParaRPr lang="en-US"/>
          </a:p>
        </p:txBody>
      </p:sp>
      <p:sp>
        <p:nvSpPr>
          <p:cNvPr id="5" name="Text 3"/>
          <p:cNvSpPr/>
          <p:nvPr/>
        </p:nvSpPr>
        <p:spPr>
          <a:xfrm>
            <a:off x="502920" y="1005840"/>
            <a:ext cx="4937760" cy="411480"/>
          </a:xfrm>
          <a:prstGeom prst="rect">
            <a:avLst/>
          </a:prstGeom>
          <a:noFill/>
          <a:ln/>
        </p:spPr>
        <p:txBody>
          <a:bodyPr wrap="square" rtlCol="0" anchor="ctr"/>
          <a:lstStyle/>
          <a:p>
            <a:pPr marL="0" indent="0">
              <a:buNone/>
            </a:pPr>
            <a:r>
              <a:rPr lang="en-US" sz="1800" b="1" dirty="0">
                <a:solidFill>
                  <a:srgbClr val="1E2761"/>
                </a:solidFill>
                <a:latin typeface="Calibri" pitchFamily="34" charset="0"/>
                <a:ea typeface="Calibri" pitchFamily="34" charset="-122"/>
                <a:cs typeface="Calibri" pitchFamily="34" charset="-120"/>
              </a:rPr>
              <a:t>Open-Meteo API</a:t>
            </a:r>
            <a:endParaRPr lang="en-US" sz="1800" dirty="0"/>
          </a:p>
        </p:txBody>
      </p:sp>
      <p:sp>
        <p:nvSpPr>
          <p:cNvPr id="6" name="Text 4"/>
          <p:cNvSpPr/>
          <p:nvPr/>
        </p:nvSpPr>
        <p:spPr>
          <a:xfrm>
            <a:off x="502920" y="1417320"/>
            <a:ext cx="4937760" cy="274320"/>
          </a:xfrm>
          <a:prstGeom prst="rect">
            <a:avLst/>
          </a:prstGeom>
          <a:noFill/>
          <a:ln/>
        </p:spPr>
        <p:txBody>
          <a:bodyPr wrap="square" rtlCol="0" anchor="ctr"/>
          <a:lstStyle/>
          <a:p>
            <a:pPr marL="0" indent="0">
              <a:buNone/>
            </a:pPr>
            <a:r>
              <a:rPr lang="en-US" sz="1200" i="1" dirty="0">
                <a:solidFill>
                  <a:srgbClr val="4FC3F7"/>
                </a:solidFill>
                <a:latin typeface="Calibri" pitchFamily="34" charset="0"/>
                <a:ea typeface="Calibri" pitchFamily="34" charset="-122"/>
                <a:cs typeface="Calibri" pitchFamily="34" charset="-120"/>
              </a:rPr>
              <a:t>open-meteo.com</a:t>
            </a:r>
            <a:endParaRPr lang="en-US" sz="1200" dirty="0"/>
          </a:p>
        </p:txBody>
      </p:sp>
      <p:sp>
        <p:nvSpPr>
          <p:cNvPr id="7" name="Shape 5"/>
          <p:cNvSpPr/>
          <p:nvPr/>
        </p:nvSpPr>
        <p:spPr>
          <a:xfrm>
            <a:off x="502920" y="1828800"/>
            <a:ext cx="1645920" cy="320040"/>
          </a:xfrm>
          <a:prstGeom prst="rect">
            <a:avLst/>
          </a:prstGeom>
          <a:solidFill>
            <a:srgbClr val="EBF0FA"/>
          </a:solidFill>
          <a:ln w="12700">
            <a:solidFill>
              <a:srgbClr val="D0D8F0"/>
            </a:solidFill>
            <a:prstDash val="solid"/>
          </a:ln>
        </p:spPr>
        <p:txBody>
          <a:bodyPr/>
          <a:lstStyle/>
          <a:p>
            <a:endParaRPr lang="en-US"/>
          </a:p>
        </p:txBody>
      </p:sp>
      <p:sp>
        <p:nvSpPr>
          <p:cNvPr id="8" name="Shape 6"/>
          <p:cNvSpPr/>
          <p:nvPr/>
        </p:nvSpPr>
        <p:spPr>
          <a:xfrm>
            <a:off x="2176272" y="1828800"/>
            <a:ext cx="3291840" cy="320040"/>
          </a:xfrm>
          <a:prstGeom prst="rect">
            <a:avLst/>
          </a:prstGeom>
          <a:solidFill>
            <a:srgbClr val="F8FAFF"/>
          </a:solidFill>
          <a:ln w="12700">
            <a:solidFill>
              <a:srgbClr val="D0D8F0"/>
            </a:solidFill>
            <a:prstDash val="solid"/>
          </a:ln>
        </p:spPr>
        <p:txBody>
          <a:bodyPr/>
          <a:lstStyle/>
          <a:p>
            <a:endParaRPr lang="en-US"/>
          </a:p>
        </p:txBody>
      </p:sp>
      <p:sp>
        <p:nvSpPr>
          <p:cNvPr id="9" name="Text 7"/>
          <p:cNvSpPr/>
          <p:nvPr/>
        </p:nvSpPr>
        <p:spPr>
          <a:xfrm>
            <a:off x="548640" y="1847088"/>
            <a:ext cx="1572768" cy="2743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No API key required</a:t>
            </a:r>
            <a:endParaRPr lang="en-US" sz="1100" dirty="0"/>
          </a:p>
        </p:txBody>
      </p:sp>
      <p:sp>
        <p:nvSpPr>
          <p:cNvPr id="10" name="Text 8"/>
          <p:cNvSpPr/>
          <p:nvPr/>
        </p:nvSpPr>
        <p:spPr>
          <a:xfrm>
            <a:off x="2212848" y="1847088"/>
            <a:ext cx="3218688" cy="274320"/>
          </a:xfrm>
          <a:prstGeom prst="rect">
            <a:avLst/>
          </a:prstGeom>
          <a:noFill/>
          <a:ln/>
        </p:spPr>
        <p:txBody>
          <a:bodyPr wrap="square" rtlCol="0" anchor="ctr"/>
          <a:lstStyle/>
          <a:p>
            <a:pPr marL="0" indent="0">
              <a:buNone/>
            </a:pPr>
            <a:r>
              <a:rPr lang="en-US" sz="1100" dirty="0">
                <a:solidFill>
                  <a:srgbClr val="333355"/>
                </a:solidFill>
                <a:latin typeface="Calibri" pitchFamily="34" charset="0"/>
                <a:ea typeface="Calibri" pitchFamily="34" charset="-122"/>
                <a:cs typeface="Calibri" pitchFamily="34" charset="-120"/>
              </a:rPr>
              <a:t>Fully open and free</a:t>
            </a:r>
            <a:endParaRPr lang="en-US" sz="1100" dirty="0"/>
          </a:p>
        </p:txBody>
      </p:sp>
      <p:sp>
        <p:nvSpPr>
          <p:cNvPr id="11" name="Shape 9"/>
          <p:cNvSpPr/>
          <p:nvPr/>
        </p:nvSpPr>
        <p:spPr>
          <a:xfrm>
            <a:off x="502920" y="2212848"/>
            <a:ext cx="1645920" cy="320040"/>
          </a:xfrm>
          <a:prstGeom prst="rect">
            <a:avLst/>
          </a:prstGeom>
          <a:solidFill>
            <a:srgbClr val="F4F7FE"/>
          </a:solidFill>
          <a:ln w="12700">
            <a:solidFill>
              <a:srgbClr val="D0D8F0"/>
            </a:solidFill>
            <a:prstDash val="solid"/>
          </a:ln>
        </p:spPr>
        <p:txBody>
          <a:bodyPr/>
          <a:lstStyle/>
          <a:p>
            <a:endParaRPr lang="en-US"/>
          </a:p>
        </p:txBody>
      </p:sp>
      <p:sp>
        <p:nvSpPr>
          <p:cNvPr id="12" name="Shape 10"/>
          <p:cNvSpPr/>
          <p:nvPr/>
        </p:nvSpPr>
        <p:spPr>
          <a:xfrm>
            <a:off x="2176272" y="2212848"/>
            <a:ext cx="3291840" cy="320040"/>
          </a:xfrm>
          <a:prstGeom prst="rect">
            <a:avLst/>
          </a:prstGeom>
          <a:solidFill>
            <a:srgbClr val="FFFFFF"/>
          </a:solidFill>
          <a:ln w="12700">
            <a:solidFill>
              <a:srgbClr val="D0D8F0"/>
            </a:solidFill>
            <a:prstDash val="solid"/>
          </a:ln>
        </p:spPr>
        <p:txBody>
          <a:bodyPr/>
          <a:lstStyle/>
          <a:p>
            <a:endParaRPr lang="en-US"/>
          </a:p>
        </p:txBody>
      </p:sp>
      <p:sp>
        <p:nvSpPr>
          <p:cNvPr id="13" name="Text 11"/>
          <p:cNvSpPr/>
          <p:nvPr/>
        </p:nvSpPr>
        <p:spPr>
          <a:xfrm>
            <a:off x="548640" y="2231136"/>
            <a:ext cx="1572768" cy="2743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Endpoint</a:t>
            </a:r>
            <a:endParaRPr lang="en-US" sz="1100" dirty="0"/>
          </a:p>
        </p:txBody>
      </p:sp>
      <p:sp>
        <p:nvSpPr>
          <p:cNvPr id="14" name="Text 12"/>
          <p:cNvSpPr/>
          <p:nvPr/>
        </p:nvSpPr>
        <p:spPr>
          <a:xfrm>
            <a:off x="2212848" y="2231136"/>
            <a:ext cx="3218688" cy="274320"/>
          </a:xfrm>
          <a:prstGeom prst="rect">
            <a:avLst/>
          </a:prstGeom>
          <a:noFill/>
          <a:ln/>
        </p:spPr>
        <p:txBody>
          <a:bodyPr wrap="square" rtlCol="0" anchor="ctr"/>
          <a:lstStyle/>
          <a:p>
            <a:pPr marL="0" indent="0">
              <a:buNone/>
            </a:pPr>
            <a:r>
              <a:rPr lang="en-US" sz="1100" dirty="0">
                <a:solidFill>
                  <a:srgbClr val="333355"/>
                </a:solidFill>
                <a:latin typeface="Calibri" pitchFamily="34" charset="0"/>
                <a:ea typeface="Calibri" pitchFamily="34" charset="-122"/>
                <a:cs typeface="Calibri" pitchFamily="34" charset="-120"/>
              </a:rPr>
              <a:t>api.open-meteo.com/v1/forecast</a:t>
            </a:r>
            <a:endParaRPr lang="en-US" sz="1100" dirty="0"/>
          </a:p>
        </p:txBody>
      </p:sp>
      <p:sp>
        <p:nvSpPr>
          <p:cNvPr id="15" name="Shape 13"/>
          <p:cNvSpPr/>
          <p:nvPr/>
        </p:nvSpPr>
        <p:spPr>
          <a:xfrm>
            <a:off x="502920" y="2596896"/>
            <a:ext cx="1645920" cy="320040"/>
          </a:xfrm>
          <a:prstGeom prst="rect">
            <a:avLst/>
          </a:prstGeom>
          <a:solidFill>
            <a:srgbClr val="EBF0FA"/>
          </a:solidFill>
          <a:ln w="12700">
            <a:solidFill>
              <a:srgbClr val="D0D8F0"/>
            </a:solidFill>
            <a:prstDash val="solid"/>
          </a:ln>
        </p:spPr>
        <p:txBody>
          <a:bodyPr/>
          <a:lstStyle/>
          <a:p>
            <a:endParaRPr lang="en-US"/>
          </a:p>
        </p:txBody>
      </p:sp>
      <p:sp>
        <p:nvSpPr>
          <p:cNvPr id="16" name="Shape 14"/>
          <p:cNvSpPr/>
          <p:nvPr/>
        </p:nvSpPr>
        <p:spPr>
          <a:xfrm>
            <a:off x="2176272" y="2596896"/>
            <a:ext cx="3291840" cy="320040"/>
          </a:xfrm>
          <a:prstGeom prst="rect">
            <a:avLst/>
          </a:prstGeom>
          <a:solidFill>
            <a:srgbClr val="F8FAFF"/>
          </a:solidFill>
          <a:ln w="12700">
            <a:solidFill>
              <a:srgbClr val="D0D8F0"/>
            </a:solidFill>
            <a:prstDash val="solid"/>
          </a:ln>
        </p:spPr>
        <p:txBody>
          <a:bodyPr/>
          <a:lstStyle/>
          <a:p>
            <a:endParaRPr lang="en-US"/>
          </a:p>
        </p:txBody>
      </p:sp>
      <p:sp>
        <p:nvSpPr>
          <p:cNvPr id="17" name="Text 15"/>
          <p:cNvSpPr/>
          <p:nvPr/>
        </p:nvSpPr>
        <p:spPr>
          <a:xfrm>
            <a:off x="548640" y="2615184"/>
            <a:ext cx="1572768" cy="2743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Location</a:t>
            </a:r>
            <a:endParaRPr lang="en-US" sz="1100" dirty="0"/>
          </a:p>
        </p:txBody>
      </p:sp>
      <p:sp>
        <p:nvSpPr>
          <p:cNvPr id="18" name="Text 16"/>
          <p:cNvSpPr/>
          <p:nvPr/>
        </p:nvSpPr>
        <p:spPr>
          <a:xfrm>
            <a:off x="2212848" y="2615184"/>
            <a:ext cx="3218688" cy="274320"/>
          </a:xfrm>
          <a:prstGeom prst="rect">
            <a:avLst/>
          </a:prstGeom>
          <a:noFill/>
          <a:ln/>
        </p:spPr>
        <p:txBody>
          <a:bodyPr wrap="square" rtlCol="0" anchor="ctr"/>
          <a:lstStyle/>
          <a:p>
            <a:pPr marL="0" indent="0">
              <a:buNone/>
            </a:pPr>
            <a:r>
              <a:rPr lang="en-US" sz="1100" dirty="0">
                <a:solidFill>
                  <a:srgbClr val="333355"/>
                </a:solidFill>
                <a:latin typeface="Calibri" pitchFamily="34" charset="0"/>
                <a:ea typeface="Calibri" pitchFamily="34" charset="-122"/>
                <a:cs typeface="Calibri" pitchFamily="34" charset="-120"/>
              </a:rPr>
              <a:t>Louisville, KY (38.25°N, 85.76°W)</a:t>
            </a:r>
            <a:endParaRPr lang="en-US" sz="1100" dirty="0"/>
          </a:p>
        </p:txBody>
      </p:sp>
      <p:sp>
        <p:nvSpPr>
          <p:cNvPr id="19" name="Shape 17"/>
          <p:cNvSpPr/>
          <p:nvPr/>
        </p:nvSpPr>
        <p:spPr>
          <a:xfrm>
            <a:off x="502920" y="2980944"/>
            <a:ext cx="1645920" cy="320040"/>
          </a:xfrm>
          <a:prstGeom prst="rect">
            <a:avLst/>
          </a:prstGeom>
          <a:solidFill>
            <a:srgbClr val="F4F7FE"/>
          </a:solidFill>
          <a:ln w="12700">
            <a:solidFill>
              <a:srgbClr val="D0D8F0"/>
            </a:solidFill>
            <a:prstDash val="solid"/>
          </a:ln>
        </p:spPr>
        <p:txBody>
          <a:bodyPr/>
          <a:lstStyle/>
          <a:p>
            <a:endParaRPr lang="en-US"/>
          </a:p>
        </p:txBody>
      </p:sp>
      <p:sp>
        <p:nvSpPr>
          <p:cNvPr id="20" name="Shape 18"/>
          <p:cNvSpPr/>
          <p:nvPr/>
        </p:nvSpPr>
        <p:spPr>
          <a:xfrm>
            <a:off x="2176272" y="2980944"/>
            <a:ext cx="3291840" cy="320040"/>
          </a:xfrm>
          <a:prstGeom prst="rect">
            <a:avLst/>
          </a:prstGeom>
          <a:solidFill>
            <a:srgbClr val="FFFFFF"/>
          </a:solidFill>
          <a:ln w="12700">
            <a:solidFill>
              <a:srgbClr val="D0D8F0"/>
            </a:solidFill>
            <a:prstDash val="solid"/>
          </a:ln>
        </p:spPr>
        <p:txBody>
          <a:bodyPr/>
          <a:lstStyle/>
          <a:p>
            <a:endParaRPr lang="en-US"/>
          </a:p>
        </p:txBody>
      </p:sp>
      <p:sp>
        <p:nvSpPr>
          <p:cNvPr id="21" name="Text 19"/>
          <p:cNvSpPr/>
          <p:nvPr/>
        </p:nvSpPr>
        <p:spPr>
          <a:xfrm>
            <a:off x="548640" y="2999232"/>
            <a:ext cx="1572768" cy="2743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Forecast window</a:t>
            </a:r>
            <a:endParaRPr lang="en-US" sz="1100" dirty="0"/>
          </a:p>
        </p:txBody>
      </p:sp>
      <p:sp>
        <p:nvSpPr>
          <p:cNvPr id="22" name="Text 20"/>
          <p:cNvSpPr/>
          <p:nvPr/>
        </p:nvSpPr>
        <p:spPr>
          <a:xfrm>
            <a:off x="2212848" y="2999232"/>
            <a:ext cx="3218688" cy="274320"/>
          </a:xfrm>
          <a:prstGeom prst="rect">
            <a:avLst/>
          </a:prstGeom>
          <a:noFill/>
          <a:ln/>
        </p:spPr>
        <p:txBody>
          <a:bodyPr wrap="square" rtlCol="0" anchor="ctr"/>
          <a:lstStyle/>
          <a:p>
            <a:pPr marL="0" indent="0">
              <a:buNone/>
            </a:pPr>
            <a:r>
              <a:rPr lang="en-US" sz="1100" dirty="0">
                <a:solidFill>
                  <a:srgbClr val="333355"/>
                </a:solidFill>
                <a:latin typeface="Calibri" pitchFamily="34" charset="0"/>
                <a:ea typeface="Calibri" pitchFamily="34" charset="-122"/>
                <a:cs typeface="Calibri" pitchFamily="34" charset="-120"/>
              </a:rPr>
              <a:t>7-day rolling daily forecast</a:t>
            </a:r>
            <a:endParaRPr lang="en-US" sz="1100" dirty="0"/>
          </a:p>
        </p:txBody>
      </p:sp>
      <p:sp>
        <p:nvSpPr>
          <p:cNvPr id="23" name="Shape 21"/>
          <p:cNvSpPr/>
          <p:nvPr/>
        </p:nvSpPr>
        <p:spPr>
          <a:xfrm>
            <a:off x="502920" y="3364992"/>
            <a:ext cx="1645920" cy="320040"/>
          </a:xfrm>
          <a:prstGeom prst="rect">
            <a:avLst/>
          </a:prstGeom>
          <a:solidFill>
            <a:srgbClr val="EBF0FA"/>
          </a:solidFill>
          <a:ln w="12700">
            <a:solidFill>
              <a:srgbClr val="D0D8F0"/>
            </a:solidFill>
            <a:prstDash val="solid"/>
          </a:ln>
        </p:spPr>
        <p:txBody>
          <a:bodyPr/>
          <a:lstStyle/>
          <a:p>
            <a:endParaRPr lang="en-US"/>
          </a:p>
        </p:txBody>
      </p:sp>
      <p:sp>
        <p:nvSpPr>
          <p:cNvPr id="24" name="Shape 22"/>
          <p:cNvSpPr/>
          <p:nvPr/>
        </p:nvSpPr>
        <p:spPr>
          <a:xfrm>
            <a:off x="2176272" y="3364992"/>
            <a:ext cx="3291840" cy="320040"/>
          </a:xfrm>
          <a:prstGeom prst="rect">
            <a:avLst/>
          </a:prstGeom>
          <a:solidFill>
            <a:srgbClr val="F8FAFF"/>
          </a:solidFill>
          <a:ln w="12700">
            <a:solidFill>
              <a:srgbClr val="D0D8F0"/>
            </a:solidFill>
            <a:prstDash val="solid"/>
          </a:ln>
        </p:spPr>
        <p:txBody>
          <a:bodyPr/>
          <a:lstStyle/>
          <a:p>
            <a:endParaRPr lang="en-US"/>
          </a:p>
        </p:txBody>
      </p:sp>
      <p:sp>
        <p:nvSpPr>
          <p:cNvPr id="25" name="Text 23"/>
          <p:cNvSpPr/>
          <p:nvPr/>
        </p:nvSpPr>
        <p:spPr>
          <a:xfrm>
            <a:off x="548640" y="3383280"/>
            <a:ext cx="1572768" cy="2743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Units</a:t>
            </a:r>
            <a:endParaRPr lang="en-US" sz="1100" dirty="0"/>
          </a:p>
        </p:txBody>
      </p:sp>
      <p:sp>
        <p:nvSpPr>
          <p:cNvPr id="26" name="Text 24"/>
          <p:cNvSpPr/>
          <p:nvPr/>
        </p:nvSpPr>
        <p:spPr>
          <a:xfrm>
            <a:off x="2212848" y="3383280"/>
            <a:ext cx="3218688" cy="274320"/>
          </a:xfrm>
          <a:prstGeom prst="rect">
            <a:avLst/>
          </a:prstGeom>
          <a:noFill/>
          <a:ln/>
        </p:spPr>
        <p:txBody>
          <a:bodyPr wrap="square" rtlCol="0" anchor="ctr"/>
          <a:lstStyle/>
          <a:p>
            <a:pPr marL="0" indent="0">
              <a:buNone/>
            </a:pPr>
            <a:r>
              <a:rPr lang="en-US" sz="1100" dirty="0">
                <a:solidFill>
                  <a:srgbClr val="333355"/>
                </a:solidFill>
                <a:latin typeface="Calibri" pitchFamily="34" charset="0"/>
                <a:ea typeface="Calibri" pitchFamily="34" charset="-122"/>
                <a:cs typeface="Calibri" pitchFamily="34" charset="-120"/>
              </a:rPr>
              <a:t>Fahrenheit, mph, inches</a:t>
            </a:r>
            <a:endParaRPr lang="en-US" sz="1100" dirty="0"/>
          </a:p>
        </p:txBody>
      </p:sp>
      <p:sp>
        <p:nvSpPr>
          <p:cNvPr id="27" name="Shape 25"/>
          <p:cNvSpPr/>
          <p:nvPr/>
        </p:nvSpPr>
        <p:spPr>
          <a:xfrm>
            <a:off x="502920" y="3749040"/>
            <a:ext cx="1645920" cy="320040"/>
          </a:xfrm>
          <a:prstGeom prst="rect">
            <a:avLst/>
          </a:prstGeom>
          <a:solidFill>
            <a:srgbClr val="F4F7FE"/>
          </a:solidFill>
          <a:ln w="12700">
            <a:solidFill>
              <a:srgbClr val="D0D8F0"/>
            </a:solidFill>
            <a:prstDash val="solid"/>
          </a:ln>
        </p:spPr>
        <p:txBody>
          <a:bodyPr/>
          <a:lstStyle/>
          <a:p>
            <a:endParaRPr lang="en-US"/>
          </a:p>
        </p:txBody>
      </p:sp>
      <p:sp>
        <p:nvSpPr>
          <p:cNvPr id="28" name="Shape 26"/>
          <p:cNvSpPr/>
          <p:nvPr/>
        </p:nvSpPr>
        <p:spPr>
          <a:xfrm>
            <a:off x="2176272" y="3749040"/>
            <a:ext cx="3291840" cy="320040"/>
          </a:xfrm>
          <a:prstGeom prst="rect">
            <a:avLst/>
          </a:prstGeom>
          <a:solidFill>
            <a:srgbClr val="FFFFFF"/>
          </a:solidFill>
          <a:ln w="12700">
            <a:solidFill>
              <a:srgbClr val="D0D8F0"/>
            </a:solidFill>
            <a:prstDash val="solid"/>
          </a:ln>
        </p:spPr>
        <p:txBody>
          <a:bodyPr/>
          <a:lstStyle/>
          <a:p>
            <a:endParaRPr lang="en-US"/>
          </a:p>
        </p:txBody>
      </p:sp>
      <p:sp>
        <p:nvSpPr>
          <p:cNvPr id="29" name="Text 27"/>
          <p:cNvSpPr/>
          <p:nvPr/>
        </p:nvSpPr>
        <p:spPr>
          <a:xfrm>
            <a:off x="548640" y="3767328"/>
            <a:ext cx="1572768" cy="2743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Timezone</a:t>
            </a:r>
            <a:endParaRPr lang="en-US" sz="1100" dirty="0"/>
          </a:p>
        </p:txBody>
      </p:sp>
      <p:sp>
        <p:nvSpPr>
          <p:cNvPr id="30" name="Text 28"/>
          <p:cNvSpPr/>
          <p:nvPr/>
        </p:nvSpPr>
        <p:spPr>
          <a:xfrm>
            <a:off x="2212848" y="3767328"/>
            <a:ext cx="3218688" cy="274320"/>
          </a:xfrm>
          <a:prstGeom prst="rect">
            <a:avLst/>
          </a:prstGeom>
          <a:noFill/>
          <a:ln/>
        </p:spPr>
        <p:txBody>
          <a:bodyPr wrap="square" rtlCol="0" anchor="ctr"/>
          <a:lstStyle/>
          <a:p>
            <a:pPr marL="0" indent="0">
              <a:buNone/>
            </a:pPr>
            <a:r>
              <a:rPr lang="en-US" sz="1100" dirty="0">
                <a:solidFill>
                  <a:srgbClr val="333355"/>
                </a:solidFill>
                <a:latin typeface="Calibri" pitchFamily="34" charset="0"/>
                <a:ea typeface="Calibri" pitchFamily="34" charset="-122"/>
                <a:cs typeface="Calibri" pitchFamily="34" charset="-120"/>
              </a:rPr>
              <a:t>Auto-detected (America/Louisville)</a:t>
            </a:r>
            <a:endParaRPr lang="en-US" sz="1100" dirty="0"/>
          </a:p>
        </p:txBody>
      </p:sp>
      <p:sp>
        <p:nvSpPr>
          <p:cNvPr id="31" name="Shape 29"/>
          <p:cNvSpPr/>
          <p:nvPr/>
        </p:nvSpPr>
        <p:spPr>
          <a:xfrm>
            <a:off x="502920" y="4133088"/>
            <a:ext cx="1645920" cy="320040"/>
          </a:xfrm>
          <a:prstGeom prst="rect">
            <a:avLst/>
          </a:prstGeom>
          <a:solidFill>
            <a:srgbClr val="EBF0FA"/>
          </a:solidFill>
          <a:ln w="12700">
            <a:solidFill>
              <a:srgbClr val="D0D8F0"/>
            </a:solidFill>
            <a:prstDash val="solid"/>
          </a:ln>
        </p:spPr>
        <p:txBody>
          <a:bodyPr/>
          <a:lstStyle/>
          <a:p>
            <a:endParaRPr lang="en-US"/>
          </a:p>
        </p:txBody>
      </p:sp>
      <p:sp>
        <p:nvSpPr>
          <p:cNvPr id="32" name="Shape 30"/>
          <p:cNvSpPr/>
          <p:nvPr/>
        </p:nvSpPr>
        <p:spPr>
          <a:xfrm>
            <a:off x="2176272" y="4133088"/>
            <a:ext cx="3291840" cy="320040"/>
          </a:xfrm>
          <a:prstGeom prst="rect">
            <a:avLst/>
          </a:prstGeom>
          <a:solidFill>
            <a:srgbClr val="F8FAFF"/>
          </a:solidFill>
          <a:ln w="12700">
            <a:solidFill>
              <a:srgbClr val="D0D8F0"/>
            </a:solidFill>
            <a:prstDash val="solid"/>
          </a:ln>
        </p:spPr>
        <p:txBody>
          <a:bodyPr/>
          <a:lstStyle/>
          <a:p>
            <a:endParaRPr lang="en-US"/>
          </a:p>
        </p:txBody>
      </p:sp>
      <p:sp>
        <p:nvSpPr>
          <p:cNvPr id="33" name="Text 31"/>
          <p:cNvSpPr/>
          <p:nvPr/>
        </p:nvSpPr>
        <p:spPr>
          <a:xfrm>
            <a:off x="548640" y="4151376"/>
            <a:ext cx="1572768" cy="2743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License</a:t>
            </a:r>
            <a:endParaRPr lang="en-US" sz="1100" dirty="0"/>
          </a:p>
        </p:txBody>
      </p:sp>
      <p:sp>
        <p:nvSpPr>
          <p:cNvPr id="34" name="Text 32"/>
          <p:cNvSpPr/>
          <p:nvPr/>
        </p:nvSpPr>
        <p:spPr>
          <a:xfrm>
            <a:off x="2212848" y="4151376"/>
            <a:ext cx="3218688" cy="274320"/>
          </a:xfrm>
          <a:prstGeom prst="rect">
            <a:avLst/>
          </a:prstGeom>
          <a:noFill/>
          <a:ln/>
        </p:spPr>
        <p:txBody>
          <a:bodyPr wrap="square" rtlCol="0" anchor="ctr"/>
          <a:lstStyle/>
          <a:p>
            <a:pPr marL="0" indent="0">
              <a:buNone/>
            </a:pPr>
            <a:r>
              <a:rPr lang="en-US" sz="1100" dirty="0">
                <a:solidFill>
                  <a:srgbClr val="333355"/>
                </a:solidFill>
                <a:latin typeface="Calibri" pitchFamily="34" charset="0"/>
                <a:ea typeface="Calibri" pitchFamily="34" charset="-122"/>
                <a:cs typeface="Calibri" pitchFamily="34" charset="-120"/>
              </a:rPr>
              <a:t>CC BY 4.0 — open for academic use</a:t>
            </a:r>
            <a:endParaRPr lang="en-US" sz="1100" dirty="0"/>
          </a:p>
        </p:txBody>
      </p:sp>
      <p:sp>
        <p:nvSpPr>
          <p:cNvPr id="35" name="Shape 33"/>
          <p:cNvSpPr/>
          <p:nvPr/>
        </p:nvSpPr>
        <p:spPr>
          <a:xfrm>
            <a:off x="5806440" y="868680"/>
            <a:ext cx="3017520" cy="4023360"/>
          </a:xfrm>
          <a:prstGeom prst="rect">
            <a:avLst/>
          </a:prstGeom>
          <a:solidFill>
            <a:srgbClr val="1E2761"/>
          </a:solidFill>
          <a:ln w="12700">
            <a:solidFill>
              <a:srgbClr val="1E2761"/>
            </a:solidFill>
            <a:prstDash val="solid"/>
          </a:ln>
        </p:spPr>
        <p:txBody>
          <a:bodyPr/>
          <a:lstStyle/>
          <a:p>
            <a:endParaRPr lang="en-US"/>
          </a:p>
        </p:txBody>
      </p:sp>
      <p:sp>
        <p:nvSpPr>
          <p:cNvPr id="36" name="Text 34"/>
          <p:cNvSpPr/>
          <p:nvPr/>
        </p:nvSpPr>
        <p:spPr>
          <a:xfrm>
            <a:off x="5943600" y="1005840"/>
            <a:ext cx="2743200" cy="365760"/>
          </a:xfrm>
          <a:prstGeom prst="rect">
            <a:avLst/>
          </a:prstGeom>
          <a:noFill/>
          <a:ln/>
        </p:spPr>
        <p:txBody>
          <a:bodyPr wrap="square" rtlCol="0" anchor="ctr"/>
          <a:lstStyle/>
          <a:p>
            <a:pPr marL="0" indent="0">
              <a:buNone/>
            </a:pPr>
            <a:r>
              <a:rPr lang="en-US" sz="1400" b="1" dirty="0">
                <a:solidFill>
                  <a:srgbClr val="CADCFC"/>
                </a:solidFill>
                <a:latin typeface="Calibri" pitchFamily="34" charset="0"/>
                <a:ea typeface="Calibri" pitchFamily="34" charset="-122"/>
                <a:cs typeface="Calibri" pitchFamily="34" charset="-120"/>
              </a:rPr>
              <a:t>6 Variables Extracted</a:t>
            </a:r>
            <a:endParaRPr lang="en-US" sz="1400" dirty="0"/>
          </a:p>
        </p:txBody>
      </p:sp>
      <p:sp>
        <p:nvSpPr>
          <p:cNvPr id="37" name="Text 35"/>
          <p:cNvSpPr/>
          <p:nvPr/>
        </p:nvSpPr>
        <p:spPr>
          <a:xfrm>
            <a:off x="5943600" y="1508760"/>
            <a:ext cx="2743200" cy="41148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01  apparent_temperature_max</a:t>
            </a:r>
            <a:endParaRPr lang="en-US" sz="1100" dirty="0"/>
          </a:p>
        </p:txBody>
      </p:sp>
      <p:sp>
        <p:nvSpPr>
          <p:cNvPr id="38" name="Text 36"/>
          <p:cNvSpPr/>
          <p:nvPr/>
        </p:nvSpPr>
        <p:spPr>
          <a:xfrm>
            <a:off x="5943600" y="2011680"/>
            <a:ext cx="2743200" cy="41148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02  apparent_temperature_min</a:t>
            </a:r>
            <a:endParaRPr lang="en-US" sz="1100" dirty="0"/>
          </a:p>
        </p:txBody>
      </p:sp>
      <p:sp>
        <p:nvSpPr>
          <p:cNvPr id="39" name="Text 37"/>
          <p:cNvSpPr/>
          <p:nvPr/>
        </p:nvSpPr>
        <p:spPr>
          <a:xfrm>
            <a:off x="5943600" y="2514600"/>
            <a:ext cx="2743200" cy="41148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03  precipitation_sum</a:t>
            </a:r>
            <a:endParaRPr lang="en-US" sz="1100" dirty="0"/>
          </a:p>
        </p:txBody>
      </p:sp>
      <p:sp>
        <p:nvSpPr>
          <p:cNvPr id="40" name="Text 38"/>
          <p:cNvSpPr/>
          <p:nvPr/>
        </p:nvSpPr>
        <p:spPr>
          <a:xfrm>
            <a:off x="5943600" y="3017520"/>
            <a:ext cx="2743200" cy="41148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04  precipitation_hours</a:t>
            </a:r>
            <a:endParaRPr lang="en-US" sz="1100" dirty="0"/>
          </a:p>
        </p:txBody>
      </p:sp>
      <p:sp>
        <p:nvSpPr>
          <p:cNvPr id="41" name="Text 39"/>
          <p:cNvSpPr/>
          <p:nvPr/>
        </p:nvSpPr>
        <p:spPr>
          <a:xfrm>
            <a:off x="5943600" y="3520440"/>
            <a:ext cx="2743200" cy="41148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05  wind_speed_10m_max</a:t>
            </a:r>
            <a:endParaRPr lang="en-US" sz="1100" dirty="0"/>
          </a:p>
        </p:txBody>
      </p:sp>
      <p:sp>
        <p:nvSpPr>
          <p:cNvPr id="42" name="Text 40"/>
          <p:cNvSpPr/>
          <p:nvPr/>
        </p:nvSpPr>
        <p:spPr>
          <a:xfrm>
            <a:off x="5943600" y="4023360"/>
            <a:ext cx="2743200" cy="411480"/>
          </a:xfrm>
          <a:prstGeom prst="rect">
            <a:avLst/>
          </a:prstGeom>
          <a:noFill/>
          <a:ln/>
        </p:spPr>
        <p:txBody>
          <a:bodyPr wrap="square" rtlCol="0" anchor="ctr"/>
          <a:lstStyle/>
          <a:p>
            <a:pPr marL="0" indent="0">
              <a:buNone/>
            </a:pPr>
            <a:r>
              <a:rPr lang="en-US" sz="1100" i="1" dirty="0">
                <a:solidFill>
                  <a:srgbClr val="7B9CDA"/>
                </a:solidFill>
                <a:latin typeface="Calibri" pitchFamily="34" charset="0"/>
                <a:ea typeface="Calibri" pitchFamily="34" charset="-122"/>
                <a:cs typeface="Calibri" pitchFamily="34" charset="-120"/>
              </a:rPr>
              <a:t>06  weather_code</a:t>
            </a:r>
            <a:endParaRPr lang="en-US" sz="1100" dirty="0"/>
          </a:p>
        </p:txBody>
      </p:sp>
      <p:sp>
        <p:nvSpPr>
          <p:cNvPr id="43" name="Text 41"/>
          <p:cNvSpPr/>
          <p:nvPr/>
        </p:nvSpPr>
        <p:spPr>
          <a:xfrm>
            <a:off x="5943600" y="4389120"/>
            <a:ext cx="2743200" cy="365760"/>
          </a:xfrm>
          <a:prstGeom prst="rect">
            <a:avLst/>
          </a:prstGeom>
          <a:noFill/>
          <a:ln/>
        </p:spPr>
        <p:txBody>
          <a:bodyPr wrap="square" rtlCol="0" anchor="ctr"/>
          <a:lstStyle/>
          <a:p>
            <a:pPr marL="0" indent="0">
              <a:buNone/>
            </a:pPr>
            <a:r>
              <a:rPr lang="en-US" sz="900" i="1" dirty="0">
                <a:solidFill>
                  <a:srgbClr val="7B9CDA"/>
                </a:solidFill>
                <a:latin typeface="Calibri" pitchFamily="34" charset="0"/>
                <a:ea typeface="Calibri" pitchFamily="34" charset="-122"/>
                <a:cs typeface="Calibri" pitchFamily="34" charset="-120"/>
              </a:rPr>
              <a:t>(extracted but not used in vibe logic)</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E"/>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w="12700">
            <a:solidFill>
              <a:srgbClr val="1E2761"/>
            </a:solidFill>
            <a:prstDash val="solid"/>
          </a:ln>
        </p:spPr>
        <p:txBody>
          <a:bodyPr/>
          <a:lstStyle/>
          <a:p>
            <a:endParaRPr lang="en-US"/>
          </a:p>
        </p:txBody>
      </p:sp>
      <p:sp>
        <p:nvSpPr>
          <p:cNvPr id="3" name="Text 1"/>
          <p:cNvSpPr/>
          <p:nvPr/>
        </p:nvSpPr>
        <p:spPr>
          <a:xfrm>
            <a:off x="365760" y="0"/>
            <a:ext cx="8229600" cy="6858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Pipeline Architecture</a:t>
            </a:r>
            <a:endParaRPr lang="en-US" sz="2200" dirty="0"/>
          </a:p>
        </p:txBody>
      </p:sp>
      <p:sp>
        <p:nvSpPr>
          <p:cNvPr id="4" name="Shape 2"/>
          <p:cNvSpPr/>
          <p:nvPr/>
        </p:nvSpPr>
        <p:spPr>
          <a:xfrm>
            <a:off x="274320" y="868680"/>
            <a:ext cx="1554480" cy="1920240"/>
          </a:xfrm>
          <a:prstGeom prst="rect">
            <a:avLst/>
          </a:prstGeom>
          <a:solidFill>
            <a:srgbClr val="E3F2FD"/>
          </a:solidFill>
          <a:ln w="12700">
            <a:solidFill>
              <a:srgbClr val="1565C0"/>
            </a:solidFill>
            <a:prstDash val="solid"/>
          </a:ln>
        </p:spPr>
        <p:txBody>
          <a:bodyPr/>
          <a:lstStyle/>
          <a:p>
            <a:endParaRPr lang="en-US"/>
          </a:p>
        </p:txBody>
      </p:sp>
      <p:sp>
        <p:nvSpPr>
          <p:cNvPr id="5" name="Shape 3"/>
          <p:cNvSpPr/>
          <p:nvPr/>
        </p:nvSpPr>
        <p:spPr>
          <a:xfrm>
            <a:off x="274320" y="868680"/>
            <a:ext cx="1554480" cy="640080"/>
          </a:xfrm>
          <a:prstGeom prst="rect">
            <a:avLst/>
          </a:prstGeom>
          <a:solidFill>
            <a:srgbClr val="1565C0"/>
          </a:solidFill>
          <a:ln w="12700">
            <a:solidFill>
              <a:srgbClr val="1565C0"/>
            </a:solidFill>
            <a:prstDash val="solid"/>
          </a:ln>
        </p:spPr>
        <p:txBody>
          <a:bodyPr/>
          <a:lstStyle/>
          <a:p>
            <a:endParaRPr lang="en-US"/>
          </a:p>
        </p:txBody>
      </p:sp>
      <p:sp>
        <p:nvSpPr>
          <p:cNvPr id="6" name="Text 4"/>
          <p:cNvSpPr/>
          <p:nvPr/>
        </p:nvSpPr>
        <p:spPr>
          <a:xfrm>
            <a:off x="329184" y="886968"/>
            <a:ext cx="457200" cy="59436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7" name="Text 5"/>
          <p:cNvSpPr/>
          <p:nvPr/>
        </p:nvSpPr>
        <p:spPr>
          <a:xfrm>
            <a:off x="731520" y="886968"/>
            <a:ext cx="1005840" cy="5943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Extract</a:t>
            </a:r>
            <a:endParaRPr lang="en-US" sz="1400" dirty="0"/>
          </a:p>
        </p:txBody>
      </p:sp>
      <p:sp>
        <p:nvSpPr>
          <p:cNvPr id="8" name="Text 6"/>
          <p:cNvSpPr/>
          <p:nvPr/>
        </p:nvSpPr>
        <p:spPr>
          <a:xfrm>
            <a:off x="365760" y="1600200"/>
            <a:ext cx="1371600" cy="1097280"/>
          </a:xfrm>
          <a:prstGeom prst="rect">
            <a:avLst/>
          </a:prstGeom>
          <a:noFill/>
          <a:ln/>
        </p:spPr>
        <p:txBody>
          <a:bodyPr wrap="square" rtlCol="0" anchor="t"/>
          <a:lstStyle/>
          <a:p>
            <a:pPr marL="0" indent="0">
              <a:buNone/>
            </a:pPr>
            <a:r>
              <a:rPr lang="en-US" sz="1100" dirty="0">
                <a:solidFill>
                  <a:srgbClr val="222244"/>
                </a:solidFill>
                <a:latin typeface="Calibri" pitchFamily="34" charset="0"/>
                <a:ea typeface="Calibri" pitchFamily="34" charset="-122"/>
                <a:cs typeface="Calibri" pitchFamily="34" charset="-120"/>
              </a:rPr>
              <a:t>Open-Meteo API</a:t>
            </a:r>
            <a:endParaRPr lang="en-US" sz="1100" dirty="0"/>
          </a:p>
          <a:p>
            <a:pPr marL="0" indent="0">
              <a:buNone/>
            </a:pPr>
            <a:r>
              <a:rPr lang="en-US" sz="1100" dirty="0">
                <a:solidFill>
                  <a:srgbClr val="222244"/>
                </a:solidFill>
                <a:latin typeface="Calibri" pitchFamily="34" charset="0"/>
                <a:ea typeface="Calibri" pitchFamily="34" charset="-122"/>
                <a:cs typeface="Calibri" pitchFamily="34" charset="-120"/>
              </a:rPr>
              <a:t>5-retry + 1hr cache</a:t>
            </a:r>
            <a:endParaRPr lang="en-US" sz="1100" dirty="0"/>
          </a:p>
          <a:p>
            <a:pPr marL="0" indent="0">
              <a:buNone/>
            </a:pPr>
            <a:r>
              <a:rPr lang="en-US" sz="1100" dirty="0">
                <a:solidFill>
                  <a:srgbClr val="222244"/>
                </a:solidFill>
                <a:latin typeface="Calibri" pitchFamily="34" charset="0"/>
                <a:ea typeface="Calibri" pitchFamily="34" charset="-122"/>
                <a:cs typeface="Calibri" pitchFamily="34" charset="-120"/>
              </a:rPr>
              <a:t>data/.cache</a:t>
            </a:r>
            <a:endParaRPr lang="en-US" sz="1100" dirty="0"/>
          </a:p>
        </p:txBody>
      </p:sp>
      <p:sp>
        <p:nvSpPr>
          <p:cNvPr id="9" name="Shape 7"/>
          <p:cNvSpPr/>
          <p:nvPr/>
        </p:nvSpPr>
        <p:spPr>
          <a:xfrm>
            <a:off x="1828800" y="1965960"/>
            <a:ext cx="164592" cy="73152"/>
          </a:xfrm>
          <a:prstGeom prst="rect">
            <a:avLst/>
          </a:prstGeom>
          <a:solidFill>
            <a:srgbClr val="AABBCC"/>
          </a:solidFill>
          <a:ln w="12700">
            <a:solidFill>
              <a:srgbClr val="AABBCC"/>
            </a:solidFill>
            <a:prstDash val="solid"/>
          </a:ln>
        </p:spPr>
        <p:txBody>
          <a:bodyPr/>
          <a:lstStyle/>
          <a:p>
            <a:endParaRPr lang="en-US"/>
          </a:p>
        </p:txBody>
      </p:sp>
      <p:sp>
        <p:nvSpPr>
          <p:cNvPr id="10" name="Text 8"/>
          <p:cNvSpPr/>
          <p:nvPr/>
        </p:nvSpPr>
        <p:spPr>
          <a:xfrm>
            <a:off x="1938528" y="1892808"/>
            <a:ext cx="182880" cy="201168"/>
          </a:xfrm>
          <a:prstGeom prst="rect">
            <a:avLst/>
          </a:prstGeom>
          <a:noFill/>
          <a:ln/>
        </p:spPr>
        <p:txBody>
          <a:bodyPr wrap="square" rtlCol="0" anchor="ctr"/>
          <a:lstStyle/>
          <a:p>
            <a:pPr marL="0" indent="0">
              <a:buNone/>
            </a:pPr>
            <a:r>
              <a:rPr lang="en-US" sz="1000" dirty="0">
                <a:solidFill>
                  <a:srgbClr val="AABBCC"/>
                </a:solidFill>
                <a:latin typeface="Calibri" pitchFamily="34" charset="0"/>
                <a:ea typeface="Calibri" pitchFamily="34" charset="-122"/>
                <a:cs typeface="Calibri" pitchFamily="34" charset="-120"/>
              </a:rPr>
              <a:t>▶</a:t>
            </a:r>
            <a:endParaRPr lang="en-US" sz="1000" dirty="0"/>
          </a:p>
        </p:txBody>
      </p:sp>
      <p:sp>
        <p:nvSpPr>
          <p:cNvPr id="11" name="Shape 9"/>
          <p:cNvSpPr/>
          <p:nvPr/>
        </p:nvSpPr>
        <p:spPr>
          <a:xfrm>
            <a:off x="1993392" y="868680"/>
            <a:ext cx="1554480" cy="1920240"/>
          </a:xfrm>
          <a:prstGeom prst="rect">
            <a:avLst/>
          </a:prstGeom>
          <a:solidFill>
            <a:srgbClr val="E8F5E9"/>
          </a:solidFill>
          <a:ln w="12700">
            <a:solidFill>
              <a:srgbClr val="2E7D32"/>
            </a:solidFill>
            <a:prstDash val="solid"/>
          </a:ln>
        </p:spPr>
        <p:txBody>
          <a:bodyPr/>
          <a:lstStyle/>
          <a:p>
            <a:endParaRPr lang="en-US"/>
          </a:p>
        </p:txBody>
      </p:sp>
      <p:sp>
        <p:nvSpPr>
          <p:cNvPr id="12" name="Shape 10"/>
          <p:cNvSpPr/>
          <p:nvPr/>
        </p:nvSpPr>
        <p:spPr>
          <a:xfrm>
            <a:off x="1993392" y="868680"/>
            <a:ext cx="1554480" cy="640080"/>
          </a:xfrm>
          <a:prstGeom prst="rect">
            <a:avLst/>
          </a:prstGeom>
          <a:solidFill>
            <a:srgbClr val="2E7D32"/>
          </a:solidFill>
          <a:ln w="12700">
            <a:solidFill>
              <a:srgbClr val="2E7D32"/>
            </a:solidFill>
            <a:prstDash val="solid"/>
          </a:ln>
        </p:spPr>
        <p:txBody>
          <a:bodyPr/>
          <a:lstStyle/>
          <a:p>
            <a:endParaRPr lang="en-US"/>
          </a:p>
        </p:txBody>
      </p:sp>
      <p:sp>
        <p:nvSpPr>
          <p:cNvPr id="13" name="Text 11"/>
          <p:cNvSpPr/>
          <p:nvPr/>
        </p:nvSpPr>
        <p:spPr>
          <a:xfrm>
            <a:off x="2048256" y="886968"/>
            <a:ext cx="457200" cy="59436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4" name="Text 12"/>
          <p:cNvSpPr/>
          <p:nvPr/>
        </p:nvSpPr>
        <p:spPr>
          <a:xfrm>
            <a:off x="2450592" y="886968"/>
            <a:ext cx="1005840" cy="5943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Transform</a:t>
            </a:r>
            <a:endParaRPr lang="en-US" sz="1400" dirty="0"/>
          </a:p>
        </p:txBody>
      </p:sp>
      <p:sp>
        <p:nvSpPr>
          <p:cNvPr id="15" name="Text 13"/>
          <p:cNvSpPr/>
          <p:nvPr/>
        </p:nvSpPr>
        <p:spPr>
          <a:xfrm>
            <a:off x="2084832" y="1600200"/>
            <a:ext cx="1371600" cy="1097280"/>
          </a:xfrm>
          <a:prstGeom prst="rect">
            <a:avLst/>
          </a:prstGeom>
          <a:noFill/>
          <a:ln/>
        </p:spPr>
        <p:txBody>
          <a:bodyPr wrap="square" rtlCol="0" anchor="t"/>
          <a:lstStyle/>
          <a:p>
            <a:pPr marL="0" indent="0">
              <a:buNone/>
            </a:pPr>
            <a:r>
              <a:rPr lang="en-US" sz="1100" dirty="0">
                <a:solidFill>
                  <a:srgbClr val="222244"/>
                </a:solidFill>
                <a:latin typeface="Calibri" pitchFamily="34" charset="0"/>
                <a:ea typeface="Calibri" pitchFamily="34" charset="-122"/>
                <a:cs typeface="Calibri" pitchFamily="34" charset="-120"/>
              </a:rPr>
              <a:t>Cast, clean, round</a:t>
            </a:r>
            <a:endParaRPr lang="en-US" sz="1100" dirty="0"/>
          </a:p>
          <a:p>
            <a:pPr marL="0" indent="0">
              <a:buNone/>
            </a:pPr>
            <a:r>
              <a:rPr lang="en-US" sz="1100" dirty="0">
                <a:solidFill>
                  <a:srgbClr val="222244"/>
                </a:solidFill>
                <a:latin typeface="Calibri" pitchFamily="34" charset="0"/>
                <a:ea typeface="Calibri" pitchFamily="34" charset="-122"/>
                <a:cs typeface="Calibri" pitchFamily="34" charset="-120"/>
              </a:rPr>
              <a:t>Derive temp_range_f</a:t>
            </a:r>
            <a:endParaRPr lang="en-US" sz="1100" dirty="0"/>
          </a:p>
          <a:p>
            <a:pPr marL="0" indent="0">
              <a:buNone/>
            </a:pPr>
            <a:r>
              <a:rPr lang="en-US" sz="1100" dirty="0">
                <a:solidFill>
                  <a:srgbClr val="222244"/>
                </a:solidFill>
                <a:latin typeface="Calibri" pitchFamily="34" charset="0"/>
                <a:ea typeface="Calibri" pitchFamily="34" charset="-122"/>
                <a:cs typeface="Calibri" pitchFamily="34" charset="-120"/>
              </a:rPr>
              <a:t>Assign weather_vibe</a:t>
            </a:r>
            <a:endParaRPr lang="en-US" sz="1100" dirty="0"/>
          </a:p>
        </p:txBody>
      </p:sp>
      <p:sp>
        <p:nvSpPr>
          <p:cNvPr id="16" name="Shape 14"/>
          <p:cNvSpPr/>
          <p:nvPr/>
        </p:nvSpPr>
        <p:spPr>
          <a:xfrm>
            <a:off x="3547872" y="1965960"/>
            <a:ext cx="164592" cy="73152"/>
          </a:xfrm>
          <a:prstGeom prst="rect">
            <a:avLst/>
          </a:prstGeom>
          <a:solidFill>
            <a:srgbClr val="AABBCC"/>
          </a:solidFill>
          <a:ln w="12700">
            <a:solidFill>
              <a:srgbClr val="AABBCC"/>
            </a:solidFill>
            <a:prstDash val="solid"/>
          </a:ln>
        </p:spPr>
        <p:txBody>
          <a:bodyPr/>
          <a:lstStyle/>
          <a:p>
            <a:endParaRPr lang="en-US"/>
          </a:p>
        </p:txBody>
      </p:sp>
      <p:sp>
        <p:nvSpPr>
          <p:cNvPr id="17" name="Text 15"/>
          <p:cNvSpPr/>
          <p:nvPr/>
        </p:nvSpPr>
        <p:spPr>
          <a:xfrm>
            <a:off x="3657600" y="1892808"/>
            <a:ext cx="182880" cy="201168"/>
          </a:xfrm>
          <a:prstGeom prst="rect">
            <a:avLst/>
          </a:prstGeom>
          <a:noFill/>
          <a:ln/>
        </p:spPr>
        <p:txBody>
          <a:bodyPr wrap="square" rtlCol="0" anchor="ctr"/>
          <a:lstStyle/>
          <a:p>
            <a:pPr marL="0" indent="0">
              <a:buNone/>
            </a:pPr>
            <a:r>
              <a:rPr lang="en-US" sz="1000" dirty="0">
                <a:solidFill>
                  <a:srgbClr val="AABBCC"/>
                </a:solidFill>
                <a:latin typeface="Calibri" pitchFamily="34" charset="0"/>
                <a:ea typeface="Calibri" pitchFamily="34" charset="-122"/>
                <a:cs typeface="Calibri" pitchFamily="34" charset="-120"/>
              </a:rPr>
              <a:t>▶</a:t>
            </a:r>
            <a:endParaRPr lang="en-US" sz="1000" dirty="0"/>
          </a:p>
        </p:txBody>
      </p:sp>
      <p:sp>
        <p:nvSpPr>
          <p:cNvPr id="18" name="Shape 16"/>
          <p:cNvSpPr/>
          <p:nvPr/>
        </p:nvSpPr>
        <p:spPr>
          <a:xfrm>
            <a:off x="3712464" y="868680"/>
            <a:ext cx="1554480" cy="1920240"/>
          </a:xfrm>
          <a:prstGeom prst="rect">
            <a:avLst/>
          </a:prstGeom>
          <a:solidFill>
            <a:srgbClr val="FFF3E0"/>
          </a:solidFill>
          <a:ln w="12700">
            <a:solidFill>
              <a:srgbClr val="E65100"/>
            </a:solidFill>
            <a:prstDash val="solid"/>
          </a:ln>
        </p:spPr>
        <p:txBody>
          <a:bodyPr/>
          <a:lstStyle/>
          <a:p>
            <a:endParaRPr lang="en-US"/>
          </a:p>
        </p:txBody>
      </p:sp>
      <p:sp>
        <p:nvSpPr>
          <p:cNvPr id="19" name="Shape 17"/>
          <p:cNvSpPr/>
          <p:nvPr/>
        </p:nvSpPr>
        <p:spPr>
          <a:xfrm>
            <a:off x="3712464" y="868680"/>
            <a:ext cx="1554480" cy="640080"/>
          </a:xfrm>
          <a:prstGeom prst="rect">
            <a:avLst/>
          </a:prstGeom>
          <a:solidFill>
            <a:srgbClr val="E65100"/>
          </a:solidFill>
          <a:ln w="12700">
            <a:solidFill>
              <a:srgbClr val="E65100"/>
            </a:solidFill>
            <a:prstDash val="solid"/>
          </a:ln>
        </p:spPr>
        <p:txBody>
          <a:bodyPr/>
          <a:lstStyle/>
          <a:p>
            <a:endParaRPr lang="en-US"/>
          </a:p>
        </p:txBody>
      </p:sp>
      <p:sp>
        <p:nvSpPr>
          <p:cNvPr id="20" name="Text 18"/>
          <p:cNvSpPr/>
          <p:nvPr/>
        </p:nvSpPr>
        <p:spPr>
          <a:xfrm>
            <a:off x="3767328" y="886968"/>
            <a:ext cx="457200" cy="59436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1" name="Text 19"/>
          <p:cNvSpPr/>
          <p:nvPr/>
        </p:nvSpPr>
        <p:spPr>
          <a:xfrm>
            <a:off x="4169664" y="886968"/>
            <a:ext cx="1005840" cy="5943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Validate</a:t>
            </a:r>
            <a:endParaRPr lang="en-US" sz="1400" dirty="0"/>
          </a:p>
        </p:txBody>
      </p:sp>
      <p:sp>
        <p:nvSpPr>
          <p:cNvPr id="22" name="Text 20"/>
          <p:cNvSpPr/>
          <p:nvPr/>
        </p:nvSpPr>
        <p:spPr>
          <a:xfrm>
            <a:off x="3803904" y="1600200"/>
            <a:ext cx="1371600" cy="1097280"/>
          </a:xfrm>
          <a:prstGeom prst="rect">
            <a:avLst/>
          </a:prstGeom>
          <a:noFill/>
          <a:ln/>
        </p:spPr>
        <p:txBody>
          <a:bodyPr wrap="square" rtlCol="0" anchor="t"/>
          <a:lstStyle/>
          <a:p>
            <a:pPr marL="0" indent="0">
              <a:buNone/>
            </a:pPr>
            <a:r>
              <a:rPr lang="en-US" sz="1100" dirty="0">
                <a:solidFill>
                  <a:srgbClr val="222244"/>
                </a:solidFill>
                <a:latin typeface="Calibri" pitchFamily="34" charset="0"/>
                <a:ea typeface="Calibri" pitchFamily="34" charset="-122"/>
                <a:cs typeface="Calibri" pitchFamily="34" charset="-120"/>
              </a:rPr>
              <a:t>7 quality checks</a:t>
            </a:r>
            <a:endParaRPr lang="en-US" sz="1100" dirty="0"/>
          </a:p>
          <a:p>
            <a:pPr marL="0" indent="0">
              <a:buNone/>
            </a:pPr>
            <a:r>
              <a:rPr lang="en-US" sz="1100" dirty="0">
                <a:solidFill>
                  <a:srgbClr val="222244"/>
                </a:solidFill>
                <a:latin typeface="Calibri" pitchFamily="34" charset="0"/>
                <a:ea typeface="Calibri" pitchFamily="34" charset="-122"/>
                <a:cs typeface="Calibri" pitchFamily="34" charset="-120"/>
              </a:rPr>
              <a:t>PASS/FAIL logging</a:t>
            </a:r>
            <a:endParaRPr lang="en-US" sz="1100" dirty="0"/>
          </a:p>
          <a:p>
            <a:pPr marL="0" indent="0">
              <a:buNone/>
            </a:pPr>
            <a:r>
              <a:rPr lang="en-US" sz="1100" dirty="0">
                <a:solidFill>
                  <a:srgbClr val="222244"/>
                </a:solidFill>
                <a:latin typeface="Calibri" pitchFamily="34" charset="0"/>
                <a:ea typeface="Calibri" pitchFamily="34" charset="-122"/>
                <a:cs typeface="Calibri" pitchFamily="34" charset="-120"/>
              </a:rPr>
              <a:t>Halts on failure</a:t>
            </a:r>
            <a:endParaRPr lang="en-US" sz="1100" dirty="0"/>
          </a:p>
        </p:txBody>
      </p:sp>
      <p:sp>
        <p:nvSpPr>
          <p:cNvPr id="23" name="Shape 21"/>
          <p:cNvSpPr/>
          <p:nvPr/>
        </p:nvSpPr>
        <p:spPr>
          <a:xfrm>
            <a:off x="5266944" y="1965960"/>
            <a:ext cx="164592" cy="73152"/>
          </a:xfrm>
          <a:prstGeom prst="rect">
            <a:avLst/>
          </a:prstGeom>
          <a:solidFill>
            <a:srgbClr val="AABBCC"/>
          </a:solidFill>
          <a:ln w="12700">
            <a:solidFill>
              <a:srgbClr val="AABBCC"/>
            </a:solidFill>
            <a:prstDash val="solid"/>
          </a:ln>
        </p:spPr>
        <p:txBody>
          <a:bodyPr/>
          <a:lstStyle/>
          <a:p>
            <a:endParaRPr lang="en-US"/>
          </a:p>
        </p:txBody>
      </p:sp>
      <p:sp>
        <p:nvSpPr>
          <p:cNvPr id="24" name="Text 22"/>
          <p:cNvSpPr/>
          <p:nvPr/>
        </p:nvSpPr>
        <p:spPr>
          <a:xfrm>
            <a:off x="5376672" y="1892808"/>
            <a:ext cx="182880" cy="201168"/>
          </a:xfrm>
          <a:prstGeom prst="rect">
            <a:avLst/>
          </a:prstGeom>
          <a:noFill/>
          <a:ln/>
        </p:spPr>
        <p:txBody>
          <a:bodyPr wrap="square" rtlCol="0" anchor="ctr"/>
          <a:lstStyle/>
          <a:p>
            <a:pPr marL="0" indent="0">
              <a:buNone/>
            </a:pPr>
            <a:r>
              <a:rPr lang="en-US" sz="1000" dirty="0">
                <a:solidFill>
                  <a:srgbClr val="AABBCC"/>
                </a:solidFill>
                <a:latin typeface="Calibri" pitchFamily="34" charset="0"/>
                <a:ea typeface="Calibri" pitchFamily="34" charset="-122"/>
                <a:cs typeface="Calibri" pitchFamily="34" charset="-120"/>
              </a:rPr>
              <a:t>▶</a:t>
            </a:r>
            <a:endParaRPr lang="en-US" sz="1000" dirty="0"/>
          </a:p>
        </p:txBody>
      </p:sp>
      <p:sp>
        <p:nvSpPr>
          <p:cNvPr id="25" name="Shape 23"/>
          <p:cNvSpPr/>
          <p:nvPr/>
        </p:nvSpPr>
        <p:spPr>
          <a:xfrm>
            <a:off x="5431536" y="868680"/>
            <a:ext cx="1554480" cy="1920240"/>
          </a:xfrm>
          <a:prstGeom prst="rect">
            <a:avLst/>
          </a:prstGeom>
          <a:solidFill>
            <a:srgbClr val="F3E5F5"/>
          </a:solidFill>
          <a:ln w="12700">
            <a:solidFill>
              <a:srgbClr val="6A1B9A"/>
            </a:solidFill>
            <a:prstDash val="solid"/>
          </a:ln>
        </p:spPr>
        <p:txBody>
          <a:bodyPr/>
          <a:lstStyle/>
          <a:p>
            <a:endParaRPr lang="en-US"/>
          </a:p>
        </p:txBody>
      </p:sp>
      <p:sp>
        <p:nvSpPr>
          <p:cNvPr id="26" name="Shape 24"/>
          <p:cNvSpPr/>
          <p:nvPr/>
        </p:nvSpPr>
        <p:spPr>
          <a:xfrm>
            <a:off x="5431536" y="868680"/>
            <a:ext cx="1554480" cy="640080"/>
          </a:xfrm>
          <a:prstGeom prst="rect">
            <a:avLst/>
          </a:prstGeom>
          <a:solidFill>
            <a:srgbClr val="6A1B9A"/>
          </a:solidFill>
          <a:ln w="12700">
            <a:solidFill>
              <a:srgbClr val="6A1B9A"/>
            </a:solidFill>
            <a:prstDash val="solid"/>
          </a:ln>
        </p:spPr>
        <p:txBody>
          <a:bodyPr/>
          <a:lstStyle/>
          <a:p>
            <a:endParaRPr lang="en-US"/>
          </a:p>
        </p:txBody>
      </p:sp>
      <p:sp>
        <p:nvSpPr>
          <p:cNvPr id="27" name="Text 25"/>
          <p:cNvSpPr/>
          <p:nvPr/>
        </p:nvSpPr>
        <p:spPr>
          <a:xfrm>
            <a:off x="5486400" y="886968"/>
            <a:ext cx="457200" cy="59436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8" name="Text 26"/>
          <p:cNvSpPr/>
          <p:nvPr/>
        </p:nvSpPr>
        <p:spPr>
          <a:xfrm>
            <a:off x="5888736" y="886968"/>
            <a:ext cx="1005840" cy="5943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Load</a:t>
            </a:r>
            <a:endParaRPr lang="en-US" sz="1400" dirty="0"/>
          </a:p>
        </p:txBody>
      </p:sp>
      <p:sp>
        <p:nvSpPr>
          <p:cNvPr id="29" name="Text 27"/>
          <p:cNvSpPr/>
          <p:nvPr/>
        </p:nvSpPr>
        <p:spPr>
          <a:xfrm>
            <a:off x="5522976" y="1600200"/>
            <a:ext cx="1371600" cy="1097280"/>
          </a:xfrm>
          <a:prstGeom prst="rect">
            <a:avLst/>
          </a:prstGeom>
          <a:noFill/>
          <a:ln/>
        </p:spPr>
        <p:txBody>
          <a:bodyPr wrap="square" rtlCol="0" anchor="t"/>
          <a:lstStyle/>
          <a:p>
            <a:pPr marL="0" indent="0">
              <a:buNone/>
            </a:pPr>
            <a:r>
              <a:rPr lang="en-US" sz="1100" dirty="0">
                <a:solidFill>
                  <a:srgbClr val="222244"/>
                </a:solidFill>
                <a:latin typeface="Calibri" pitchFamily="34" charset="0"/>
                <a:ea typeface="Calibri" pitchFamily="34" charset="-122"/>
                <a:cs typeface="Calibri" pitchFamily="34" charset="-120"/>
              </a:rPr>
              <a:t>4-table SQLite</a:t>
            </a:r>
            <a:endParaRPr lang="en-US" sz="1100" dirty="0"/>
          </a:p>
          <a:p>
            <a:pPr marL="0" indent="0">
              <a:buNone/>
            </a:pPr>
            <a:r>
              <a:rPr lang="en-US" sz="1100" dirty="0">
                <a:solidFill>
                  <a:srgbClr val="222244"/>
                </a:solidFill>
                <a:latin typeface="Calibri" pitchFamily="34" charset="0"/>
                <a:ea typeface="Calibri" pitchFamily="34" charset="-122"/>
                <a:cs typeface="Calibri" pitchFamily="34" charset="-120"/>
              </a:rPr>
              <a:t>via SQLAlchemy</a:t>
            </a:r>
            <a:endParaRPr lang="en-US" sz="1100" dirty="0"/>
          </a:p>
          <a:p>
            <a:pPr marL="0" indent="0">
              <a:buNone/>
            </a:pPr>
            <a:r>
              <a:rPr lang="en-US" sz="1100" dirty="0">
                <a:solidFill>
                  <a:srgbClr val="222244"/>
                </a:solidFill>
                <a:latin typeface="Calibri" pitchFamily="34" charset="0"/>
                <a:ea typeface="Calibri" pitchFamily="34" charset="-122"/>
                <a:cs typeface="Calibri" pitchFamily="34" charset="-120"/>
              </a:rPr>
              <a:t>data/weather.db</a:t>
            </a:r>
            <a:endParaRPr lang="en-US" sz="1100" dirty="0"/>
          </a:p>
        </p:txBody>
      </p:sp>
      <p:sp>
        <p:nvSpPr>
          <p:cNvPr id="30" name="Shape 28"/>
          <p:cNvSpPr/>
          <p:nvPr/>
        </p:nvSpPr>
        <p:spPr>
          <a:xfrm>
            <a:off x="6986016" y="1965960"/>
            <a:ext cx="164592" cy="73152"/>
          </a:xfrm>
          <a:prstGeom prst="rect">
            <a:avLst/>
          </a:prstGeom>
          <a:solidFill>
            <a:srgbClr val="AABBCC"/>
          </a:solidFill>
          <a:ln w="12700">
            <a:solidFill>
              <a:srgbClr val="AABBCC"/>
            </a:solidFill>
            <a:prstDash val="solid"/>
          </a:ln>
        </p:spPr>
        <p:txBody>
          <a:bodyPr/>
          <a:lstStyle/>
          <a:p>
            <a:endParaRPr lang="en-US"/>
          </a:p>
        </p:txBody>
      </p:sp>
      <p:sp>
        <p:nvSpPr>
          <p:cNvPr id="31" name="Text 29"/>
          <p:cNvSpPr/>
          <p:nvPr/>
        </p:nvSpPr>
        <p:spPr>
          <a:xfrm>
            <a:off x="7095744" y="1892808"/>
            <a:ext cx="182880" cy="201168"/>
          </a:xfrm>
          <a:prstGeom prst="rect">
            <a:avLst/>
          </a:prstGeom>
          <a:noFill/>
          <a:ln/>
        </p:spPr>
        <p:txBody>
          <a:bodyPr wrap="square" rtlCol="0" anchor="ctr"/>
          <a:lstStyle/>
          <a:p>
            <a:pPr marL="0" indent="0">
              <a:buNone/>
            </a:pPr>
            <a:r>
              <a:rPr lang="en-US" sz="1000" dirty="0">
                <a:solidFill>
                  <a:srgbClr val="AABBCC"/>
                </a:solidFill>
                <a:latin typeface="Calibri" pitchFamily="34" charset="0"/>
                <a:ea typeface="Calibri" pitchFamily="34" charset="-122"/>
                <a:cs typeface="Calibri" pitchFamily="34" charset="-120"/>
              </a:rPr>
              <a:t>▶</a:t>
            </a:r>
            <a:endParaRPr lang="en-US" sz="1000" dirty="0"/>
          </a:p>
        </p:txBody>
      </p:sp>
      <p:sp>
        <p:nvSpPr>
          <p:cNvPr id="32" name="Shape 30"/>
          <p:cNvSpPr/>
          <p:nvPr/>
        </p:nvSpPr>
        <p:spPr>
          <a:xfrm>
            <a:off x="7150608" y="868680"/>
            <a:ext cx="1554480" cy="1920240"/>
          </a:xfrm>
          <a:prstGeom prst="rect">
            <a:avLst/>
          </a:prstGeom>
          <a:solidFill>
            <a:srgbClr val="E8EAF6"/>
          </a:solidFill>
          <a:ln w="12700">
            <a:solidFill>
              <a:srgbClr val="1E2761"/>
            </a:solidFill>
            <a:prstDash val="solid"/>
          </a:ln>
        </p:spPr>
        <p:txBody>
          <a:bodyPr/>
          <a:lstStyle/>
          <a:p>
            <a:endParaRPr lang="en-US"/>
          </a:p>
        </p:txBody>
      </p:sp>
      <p:sp>
        <p:nvSpPr>
          <p:cNvPr id="33" name="Shape 31"/>
          <p:cNvSpPr/>
          <p:nvPr/>
        </p:nvSpPr>
        <p:spPr>
          <a:xfrm>
            <a:off x="7150608" y="868680"/>
            <a:ext cx="1554480" cy="640080"/>
          </a:xfrm>
          <a:prstGeom prst="rect">
            <a:avLst/>
          </a:prstGeom>
          <a:solidFill>
            <a:srgbClr val="1E2761"/>
          </a:solidFill>
          <a:ln w="12700">
            <a:solidFill>
              <a:srgbClr val="1E2761"/>
            </a:solidFill>
            <a:prstDash val="solid"/>
          </a:ln>
        </p:spPr>
        <p:txBody>
          <a:bodyPr/>
          <a:lstStyle/>
          <a:p>
            <a:endParaRPr lang="en-US"/>
          </a:p>
        </p:txBody>
      </p:sp>
      <p:sp>
        <p:nvSpPr>
          <p:cNvPr id="34" name="Text 32"/>
          <p:cNvSpPr/>
          <p:nvPr/>
        </p:nvSpPr>
        <p:spPr>
          <a:xfrm>
            <a:off x="7205472" y="886968"/>
            <a:ext cx="457200" cy="59436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35" name="Text 33"/>
          <p:cNvSpPr/>
          <p:nvPr/>
        </p:nvSpPr>
        <p:spPr>
          <a:xfrm>
            <a:off x="7607808" y="886968"/>
            <a:ext cx="1005840" cy="5943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Export</a:t>
            </a:r>
            <a:endParaRPr lang="en-US" sz="1400" dirty="0"/>
          </a:p>
        </p:txBody>
      </p:sp>
      <p:sp>
        <p:nvSpPr>
          <p:cNvPr id="36" name="Text 34"/>
          <p:cNvSpPr/>
          <p:nvPr/>
        </p:nvSpPr>
        <p:spPr>
          <a:xfrm>
            <a:off x="7242048" y="1600200"/>
            <a:ext cx="1371600" cy="1097280"/>
          </a:xfrm>
          <a:prstGeom prst="rect">
            <a:avLst/>
          </a:prstGeom>
          <a:noFill/>
          <a:ln/>
        </p:spPr>
        <p:txBody>
          <a:bodyPr wrap="square" rtlCol="0" anchor="t"/>
          <a:lstStyle/>
          <a:p>
            <a:pPr marL="0" indent="0">
              <a:buNone/>
            </a:pPr>
            <a:r>
              <a:rPr lang="en-US" sz="1100" dirty="0">
                <a:solidFill>
                  <a:srgbClr val="222244"/>
                </a:solidFill>
                <a:latin typeface="Calibri" pitchFamily="34" charset="0"/>
                <a:ea typeface="Calibri" pitchFamily="34" charset="-122"/>
                <a:cs typeface="Calibri" pitchFamily="34" charset="-120"/>
              </a:rPr>
              <a:t>5 CSV files</a:t>
            </a:r>
            <a:endParaRPr lang="en-US" sz="1100" dirty="0"/>
          </a:p>
          <a:p>
            <a:pPr marL="0" indent="0">
              <a:buNone/>
            </a:pPr>
            <a:r>
              <a:rPr lang="en-US" sz="1100" dirty="0">
                <a:solidFill>
                  <a:srgbClr val="222244"/>
                </a:solidFill>
                <a:latin typeface="Calibri" pitchFamily="34" charset="0"/>
                <a:ea typeface="Calibri" pitchFamily="34" charset="-122"/>
                <a:cs typeface="Calibri" pitchFamily="34" charset="-120"/>
              </a:rPr>
              <a:t>forecast_fits.csv</a:t>
            </a:r>
            <a:endParaRPr lang="en-US" sz="1100" dirty="0"/>
          </a:p>
          <a:p>
            <a:pPr marL="0" indent="0">
              <a:buNone/>
            </a:pPr>
            <a:r>
              <a:rPr lang="en-US" sz="1100" dirty="0">
                <a:solidFill>
                  <a:srgbClr val="222244"/>
                </a:solidFill>
                <a:latin typeface="Calibri" pitchFamily="34" charset="0"/>
                <a:ea typeface="Calibri" pitchFamily="34" charset="-122"/>
                <a:cs typeface="Calibri" pitchFamily="34" charset="-120"/>
              </a:rPr>
              <a:t>Primary PBI source</a:t>
            </a:r>
            <a:endParaRPr lang="en-US" sz="1100" dirty="0"/>
          </a:p>
        </p:txBody>
      </p:sp>
      <p:sp>
        <p:nvSpPr>
          <p:cNvPr id="37" name="Text 35"/>
          <p:cNvSpPr/>
          <p:nvPr/>
        </p:nvSpPr>
        <p:spPr>
          <a:xfrm>
            <a:off x="274320" y="2944368"/>
            <a:ext cx="8595360" cy="320040"/>
          </a:xfrm>
          <a:prstGeom prst="rect">
            <a:avLst/>
          </a:prstGeom>
          <a:noFill/>
          <a:ln/>
        </p:spPr>
        <p:txBody>
          <a:bodyPr wrap="square" rtlCol="0" anchor="ctr"/>
          <a:lstStyle/>
          <a:p>
            <a:pPr marL="0" indent="0" algn="ctr">
              <a:buNone/>
            </a:pPr>
            <a:r>
              <a:rPr lang="en-US" sz="1100" i="1" dirty="0">
                <a:solidFill>
                  <a:srgbClr val="556688"/>
                </a:solidFill>
                <a:latin typeface="Calibri" pitchFamily="34" charset="0"/>
                <a:ea typeface="Calibri" pitchFamily="34" charset="-122"/>
                <a:cs typeface="Calibri" pitchFamily="34" charset="-120"/>
              </a:rPr>
              <a:t>Single Python script — weather_vibes_app.py  |  All outputs written to data/ directory</a:t>
            </a:r>
            <a:endParaRPr lang="en-US" sz="1100" dirty="0"/>
          </a:p>
        </p:txBody>
      </p:sp>
      <p:sp>
        <p:nvSpPr>
          <p:cNvPr id="38" name="Shape 36"/>
          <p:cNvSpPr/>
          <p:nvPr/>
        </p:nvSpPr>
        <p:spPr>
          <a:xfrm>
            <a:off x="457200" y="3401568"/>
            <a:ext cx="1508760" cy="1463040"/>
          </a:xfrm>
          <a:prstGeom prst="rect">
            <a:avLst/>
          </a:prstGeom>
          <a:solidFill>
            <a:srgbClr val="FFFFFF"/>
          </a:solidFill>
          <a:ln w="12700">
            <a:solidFill>
              <a:srgbClr val="D0D8F0"/>
            </a:solidFill>
            <a:prstDash val="solid"/>
          </a:ln>
        </p:spPr>
        <p:txBody>
          <a:bodyPr/>
          <a:lstStyle/>
          <a:p>
            <a:endParaRPr lang="en-US"/>
          </a:p>
        </p:txBody>
      </p:sp>
      <p:sp>
        <p:nvSpPr>
          <p:cNvPr id="39" name="Text 37"/>
          <p:cNvSpPr/>
          <p:nvPr/>
        </p:nvSpPr>
        <p:spPr>
          <a:xfrm>
            <a:off x="457200" y="3493008"/>
            <a:ext cx="1508760" cy="777240"/>
          </a:xfrm>
          <a:prstGeom prst="rect">
            <a:avLst/>
          </a:prstGeom>
          <a:noFill/>
          <a:ln/>
        </p:spPr>
        <p:txBody>
          <a:bodyPr wrap="square" rtlCol="0" anchor="ctr"/>
          <a:lstStyle/>
          <a:p>
            <a:pPr marL="0" indent="0" algn="ctr">
              <a:buNone/>
            </a:pPr>
            <a:r>
              <a:rPr lang="en-US" sz="4200" b="1" dirty="0">
                <a:solidFill>
                  <a:srgbClr val="1E2761"/>
                </a:solidFill>
                <a:latin typeface="Calibri" pitchFamily="34" charset="0"/>
                <a:ea typeface="Calibri" pitchFamily="34" charset="-122"/>
                <a:cs typeface="Calibri" pitchFamily="34" charset="-120"/>
              </a:rPr>
              <a:t>11</a:t>
            </a:r>
            <a:endParaRPr lang="en-US" sz="4200" dirty="0"/>
          </a:p>
        </p:txBody>
      </p:sp>
      <p:sp>
        <p:nvSpPr>
          <p:cNvPr id="40" name="Text 38"/>
          <p:cNvSpPr/>
          <p:nvPr/>
        </p:nvSpPr>
        <p:spPr>
          <a:xfrm>
            <a:off x="457200" y="4279392"/>
            <a:ext cx="1508760" cy="457200"/>
          </a:xfrm>
          <a:prstGeom prst="rect">
            <a:avLst/>
          </a:prstGeom>
          <a:noFill/>
          <a:ln/>
        </p:spPr>
        <p:txBody>
          <a:bodyPr wrap="square" rtlCol="0" anchor="ctr"/>
          <a:lstStyle/>
          <a:p>
            <a:pPr marL="0" indent="0" algn="ctr">
              <a:buNone/>
            </a:pPr>
            <a:r>
              <a:rPr lang="en-US" sz="1200" dirty="0">
                <a:solidFill>
                  <a:srgbClr val="7B9CDA"/>
                </a:solidFill>
                <a:latin typeface="Calibri" pitchFamily="34" charset="0"/>
                <a:ea typeface="Calibri" pitchFamily="34" charset="-122"/>
                <a:cs typeface="Calibri" pitchFamily="34" charset="-120"/>
              </a:rPr>
              <a:t>Weather vibes</a:t>
            </a:r>
            <a:endParaRPr lang="en-US" sz="1200" dirty="0"/>
          </a:p>
        </p:txBody>
      </p:sp>
      <p:sp>
        <p:nvSpPr>
          <p:cNvPr id="41" name="Shape 39"/>
          <p:cNvSpPr/>
          <p:nvPr/>
        </p:nvSpPr>
        <p:spPr>
          <a:xfrm>
            <a:off x="2121408" y="3401568"/>
            <a:ext cx="1508760" cy="1463040"/>
          </a:xfrm>
          <a:prstGeom prst="rect">
            <a:avLst/>
          </a:prstGeom>
          <a:solidFill>
            <a:srgbClr val="FFFFFF"/>
          </a:solidFill>
          <a:ln w="12700">
            <a:solidFill>
              <a:srgbClr val="D0D8F0"/>
            </a:solidFill>
            <a:prstDash val="solid"/>
          </a:ln>
        </p:spPr>
        <p:txBody>
          <a:bodyPr/>
          <a:lstStyle/>
          <a:p>
            <a:endParaRPr lang="en-US"/>
          </a:p>
        </p:txBody>
      </p:sp>
      <p:sp>
        <p:nvSpPr>
          <p:cNvPr id="42" name="Text 40"/>
          <p:cNvSpPr/>
          <p:nvPr/>
        </p:nvSpPr>
        <p:spPr>
          <a:xfrm>
            <a:off x="2121408" y="3493008"/>
            <a:ext cx="1508760" cy="777240"/>
          </a:xfrm>
          <a:prstGeom prst="rect">
            <a:avLst/>
          </a:prstGeom>
          <a:noFill/>
          <a:ln/>
        </p:spPr>
        <p:txBody>
          <a:bodyPr wrap="square" rtlCol="0" anchor="ctr"/>
          <a:lstStyle/>
          <a:p>
            <a:pPr marL="0" indent="0" algn="ctr">
              <a:buNone/>
            </a:pPr>
            <a:r>
              <a:rPr lang="en-US" sz="4200" b="1" dirty="0">
                <a:solidFill>
                  <a:srgbClr val="1E2761"/>
                </a:solidFill>
                <a:latin typeface="Calibri" pitchFamily="34" charset="0"/>
                <a:ea typeface="Calibri" pitchFamily="34" charset="-122"/>
                <a:cs typeface="Calibri" pitchFamily="34" charset="-120"/>
              </a:rPr>
              <a:t>7</a:t>
            </a:r>
            <a:endParaRPr lang="en-US" sz="4200" dirty="0"/>
          </a:p>
        </p:txBody>
      </p:sp>
      <p:sp>
        <p:nvSpPr>
          <p:cNvPr id="43" name="Text 41"/>
          <p:cNvSpPr/>
          <p:nvPr/>
        </p:nvSpPr>
        <p:spPr>
          <a:xfrm>
            <a:off x="2121408" y="4279392"/>
            <a:ext cx="1508760" cy="457200"/>
          </a:xfrm>
          <a:prstGeom prst="rect">
            <a:avLst/>
          </a:prstGeom>
          <a:noFill/>
          <a:ln/>
        </p:spPr>
        <p:txBody>
          <a:bodyPr wrap="square" rtlCol="0" anchor="ctr"/>
          <a:lstStyle/>
          <a:p>
            <a:pPr marL="0" indent="0" algn="ctr">
              <a:buNone/>
            </a:pPr>
            <a:r>
              <a:rPr lang="en-US" sz="1200" dirty="0">
                <a:solidFill>
                  <a:srgbClr val="7B9CDA"/>
                </a:solidFill>
                <a:latin typeface="Calibri" pitchFamily="34" charset="0"/>
                <a:ea typeface="Calibri" pitchFamily="34" charset="-122"/>
                <a:cs typeface="Calibri" pitchFamily="34" charset="-120"/>
              </a:rPr>
              <a:t>Rows per run</a:t>
            </a:r>
            <a:endParaRPr lang="en-US" sz="1200" dirty="0"/>
          </a:p>
        </p:txBody>
      </p:sp>
      <p:sp>
        <p:nvSpPr>
          <p:cNvPr id="44" name="Shape 42"/>
          <p:cNvSpPr/>
          <p:nvPr/>
        </p:nvSpPr>
        <p:spPr>
          <a:xfrm>
            <a:off x="3785616" y="3401568"/>
            <a:ext cx="1508760" cy="1463040"/>
          </a:xfrm>
          <a:prstGeom prst="rect">
            <a:avLst/>
          </a:prstGeom>
          <a:solidFill>
            <a:srgbClr val="FFFFFF"/>
          </a:solidFill>
          <a:ln w="12700">
            <a:solidFill>
              <a:srgbClr val="D0D8F0"/>
            </a:solidFill>
            <a:prstDash val="solid"/>
          </a:ln>
        </p:spPr>
        <p:txBody>
          <a:bodyPr/>
          <a:lstStyle/>
          <a:p>
            <a:endParaRPr lang="en-US"/>
          </a:p>
        </p:txBody>
      </p:sp>
      <p:sp>
        <p:nvSpPr>
          <p:cNvPr id="45" name="Text 43"/>
          <p:cNvSpPr/>
          <p:nvPr/>
        </p:nvSpPr>
        <p:spPr>
          <a:xfrm>
            <a:off x="3785616" y="3493008"/>
            <a:ext cx="1508760" cy="777240"/>
          </a:xfrm>
          <a:prstGeom prst="rect">
            <a:avLst/>
          </a:prstGeom>
          <a:noFill/>
          <a:ln/>
        </p:spPr>
        <p:txBody>
          <a:bodyPr wrap="square" rtlCol="0" anchor="ctr"/>
          <a:lstStyle/>
          <a:p>
            <a:pPr marL="0" indent="0" algn="ctr">
              <a:buNone/>
            </a:pPr>
            <a:r>
              <a:rPr lang="en-US" sz="4200" b="1" dirty="0">
                <a:solidFill>
                  <a:srgbClr val="1E2761"/>
                </a:solidFill>
                <a:latin typeface="Calibri" pitchFamily="34" charset="0"/>
                <a:ea typeface="Calibri" pitchFamily="34" charset="-122"/>
                <a:cs typeface="Calibri" pitchFamily="34" charset="-120"/>
              </a:rPr>
              <a:t>7</a:t>
            </a:r>
            <a:endParaRPr lang="en-US" sz="4200" dirty="0"/>
          </a:p>
        </p:txBody>
      </p:sp>
      <p:sp>
        <p:nvSpPr>
          <p:cNvPr id="46" name="Text 44"/>
          <p:cNvSpPr/>
          <p:nvPr/>
        </p:nvSpPr>
        <p:spPr>
          <a:xfrm>
            <a:off x="3785616" y="4279392"/>
            <a:ext cx="1508760" cy="457200"/>
          </a:xfrm>
          <a:prstGeom prst="rect">
            <a:avLst/>
          </a:prstGeom>
          <a:noFill/>
          <a:ln/>
        </p:spPr>
        <p:txBody>
          <a:bodyPr wrap="square" rtlCol="0" anchor="ctr"/>
          <a:lstStyle/>
          <a:p>
            <a:pPr marL="0" indent="0" algn="ctr">
              <a:buNone/>
            </a:pPr>
            <a:r>
              <a:rPr lang="en-US" sz="1200" dirty="0">
                <a:solidFill>
                  <a:srgbClr val="7B9CDA"/>
                </a:solidFill>
                <a:latin typeface="Calibri" pitchFamily="34" charset="0"/>
                <a:ea typeface="Calibri" pitchFamily="34" charset="-122"/>
                <a:cs typeface="Calibri" pitchFamily="34" charset="-120"/>
              </a:rPr>
              <a:t>Quality checks</a:t>
            </a:r>
            <a:endParaRPr lang="en-US" sz="1200" dirty="0"/>
          </a:p>
        </p:txBody>
      </p:sp>
      <p:sp>
        <p:nvSpPr>
          <p:cNvPr id="47" name="Shape 45"/>
          <p:cNvSpPr/>
          <p:nvPr/>
        </p:nvSpPr>
        <p:spPr>
          <a:xfrm>
            <a:off x="5449824" y="3401568"/>
            <a:ext cx="1508760" cy="1463040"/>
          </a:xfrm>
          <a:prstGeom prst="rect">
            <a:avLst/>
          </a:prstGeom>
          <a:solidFill>
            <a:srgbClr val="FFFFFF"/>
          </a:solidFill>
          <a:ln w="12700">
            <a:solidFill>
              <a:srgbClr val="D0D8F0"/>
            </a:solidFill>
            <a:prstDash val="solid"/>
          </a:ln>
        </p:spPr>
        <p:txBody>
          <a:bodyPr/>
          <a:lstStyle/>
          <a:p>
            <a:endParaRPr lang="en-US"/>
          </a:p>
        </p:txBody>
      </p:sp>
      <p:sp>
        <p:nvSpPr>
          <p:cNvPr id="48" name="Text 46"/>
          <p:cNvSpPr/>
          <p:nvPr/>
        </p:nvSpPr>
        <p:spPr>
          <a:xfrm>
            <a:off x="5449824" y="3493008"/>
            <a:ext cx="1508760" cy="777240"/>
          </a:xfrm>
          <a:prstGeom prst="rect">
            <a:avLst/>
          </a:prstGeom>
          <a:noFill/>
          <a:ln/>
        </p:spPr>
        <p:txBody>
          <a:bodyPr wrap="square" rtlCol="0" anchor="ctr"/>
          <a:lstStyle/>
          <a:p>
            <a:pPr marL="0" indent="0" algn="ctr">
              <a:buNone/>
            </a:pPr>
            <a:r>
              <a:rPr lang="en-US" sz="4200" b="1" dirty="0">
                <a:solidFill>
                  <a:srgbClr val="1E2761"/>
                </a:solidFill>
                <a:latin typeface="Calibri" pitchFamily="34" charset="0"/>
                <a:ea typeface="Calibri" pitchFamily="34" charset="-122"/>
                <a:cs typeface="Calibri" pitchFamily="34" charset="-120"/>
              </a:rPr>
              <a:t>4</a:t>
            </a:r>
            <a:endParaRPr lang="en-US" sz="4200" dirty="0"/>
          </a:p>
        </p:txBody>
      </p:sp>
      <p:sp>
        <p:nvSpPr>
          <p:cNvPr id="49" name="Text 47"/>
          <p:cNvSpPr/>
          <p:nvPr/>
        </p:nvSpPr>
        <p:spPr>
          <a:xfrm>
            <a:off x="5449824" y="4279392"/>
            <a:ext cx="1508760" cy="457200"/>
          </a:xfrm>
          <a:prstGeom prst="rect">
            <a:avLst/>
          </a:prstGeom>
          <a:noFill/>
          <a:ln/>
        </p:spPr>
        <p:txBody>
          <a:bodyPr wrap="square" rtlCol="0" anchor="ctr"/>
          <a:lstStyle/>
          <a:p>
            <a:pPr marL="0" indent="0" algn="ctr">
              <a:buNone/>
            </a:pPr>
            <a:r>
              <a:rPr lang="en-US" sz="1200" dirty="0">
                <a:solidFill>
                  <a:srgbClr val="7B9CDA"/>
                </a:solidFill>
                <a:latin typeface="Calibri" pitchFamily="34" charset="0"/>
                <a:ea typeface="Calibri" pitchFamily="34" charset="-122"/>
                <a:cs typeface="Calibri" pitchFamily="34" charset="-120"/>
              </a:rPr>
              <a:t>DB tables</a:t>
            </a:r>
            <a:endParaRPr lang="en-US" sz="1200" dirty="0"/>
          </a:p>
        </p:txBody>
      </p:sp>
      <p:sp>
        <p:nvSpPr>
          <p:cNvPr id="50" name="Shape 48"/>
          <p:cNvSpPr/>
          <p:nvPr/>
        </p:nvSpPr>
        <p:spPr>
          <a:xfrm>
            <a:off x="7114032" y="3401568"/>
            <a:ext cx="1508760" cy="1463040"/>
          </a:xfrm>
          <a:prstGeom prst="rect">
            <a:avLst/>
          </a:prstGeom>
          <a:solidFill>
            <a:srgbClr val="FFFFFF"/>
          </a:solidFill>
          <a:ln w="12700">
            <a:solidFill>
              <a:srgbClr val="D0D8F0"/>
            </a:solidFill>
            <a:prstDash val="solid"/>
          </a:ln>
        </p:spPr>
        <p:txBody>
          <a:bodyPr/>
          <a:lstStyle/>
          <a:p>
            <a:endParaRPr lang="en-US"/>
          </a:p>
        </p:txBody>
      </p:sp>
      <p:sp>
        <p:nvSpPr>
          <p:cNvPr id="51" name="Text 49"/>
          <p:cNvSpPr/>
          <p:nvPr/>
        </p:nvSpPr>
        <p:spPr>
          <a:xfrm>
            <a:off x="7114032" y="3493008"/>
            <a:ext cx="1508760" cy="777240"/>
          </a:xfrm>
          <a:prstGeom prst="rect">
            <a:avLst/>
          </a:prstGeom>
          <a:noFill/>
          <a:ln/>
        </p:spPr>
        <p:txBody>
          <a:bodyPr wrap="square" rtlCol="0" anchor="ctr"/>
          <a:lstStyle/>
          <a:p>
            <a:pPr marL="0" indent="0" algn="ctr">
              <a:buNone/>
            </a:pPr>
            <a:r>
              <a:rPr lang="en-US" sz="4200" b="1" dirty="0">
                <a:solidFill>
                  <a:srgbClr val="1E2761"/>
                </a:solidFill>
                <a:latin typeface="Calibri" pitchFamily="34" charset="0"/>
                <a:ea typeface="Calibri" pitchFamily="34" charset="-122"/>
                <a:cs typeface="Calibri" pitchFamily="34" charset="-120"/>
              </a:rPr>
              <a:t>5</a:t>
            </a:r>
            <a:endParaRPr lang="en-US" sz="4200" dirty="0"/>
          </a:p>
        </p:txBody>
      </p:sp>
      <p:sp>
        <p:nvSpPr>
          <p:cNvPr id="52" name="Text 50"/>
          <p:cNvSpPr/>
          <p:nvPr/>
        </p:nvSpPr>
        <p:spPr>
          <a:xfrm>
            <a:off x="7114032" y="4279392"/>
            <a:ext cx="1508760" cy="457200"/>
          </a:xfrm>
          <a:prstGeom prst="rect">
            <a:avLst/>
          </a:prstGeom>
          <a:noFill/>
          <a:ln/>
        </p:spPr>
        <p:txBody>
          <a:bodyPr wrap="square" rtlCol="0" anchor="ctr"/>
          <a:lstStyle/>
          <a:p>
            <a:pPr marL="0" indent="0" algn="ctr">
              <a:buNone/>
            </a:pPr>
            <a:r>
              <a:rPr lang="en-US" sz="1200" dirty="0">
                <a:solidFill>
                  <a:srgbClr val="7B9CDA"/>
                </a:solidFill>
                <a:latin typeface="Calibri" pitchFamily="34" charset="0"/>
                <a:ea typeface="Calibri" pitchFamily="34" charset="-122"/>
                <a:cs typeface="Calibri" pitchFamily="34" charset="-120"/>
              </a:rPr>
              <a:t>CSV exports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E"/>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w="12700">
            <a:solidFill>
              <a:srgbClr val="1E2761"/>
            </a:solidFill>
            <a:prstDash val="solid"/>
          </a:ln>
        </p:spPr>
        <p:txBody>
          <a:bodyPr/>
          <a:lstStyle/>
          <a:p>
            <a:endParaRPr lang="en-US"/>
          </a:p>
        </p:txBody>
      </p:sp>
      <p:sp>
        <p:nvSpPr>
          <p:cNvPr id="3" name="Text 1"/>
          <p:cNvSpPr/>
          <p:nvPr/>
        </p:nvSpPr>
        <p:spPr>
          <a:xfrm>
            <a:off x="365760" y="0"/>
            <a:ext cx="8229600" cy="6858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Database Schema</a:t>
            </a:r>
            <a:endParaRPr lang="en-US" sz="2200" dirty="0"/>
          </a:p>
        </p:txBody>
      </p:sp>
      <p:sp>
        <p:nvSpPr>
          <p:cNvPr id="4" name="Text 2"/>
          <p:cNvSpPr/>
          <p:nvPr/>
        </p:nvSpPr>
        <p:spPr>
          <a:xfrm>
            <a:off x="320040" y="777240"/>
            <a:ext cx="5303520" cy="32004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LAYER 1 — Normalized Database (weather.db)</a:t>
            </a:r>
            <a:endParaRPr lang="en-US" sz="1100" dirty="0"/>
          </a:p>
        </p:txBody>
      </p:sp>
      <p:sp>
        <p:nvSpPr>
          <p:cNvPr id="5" name="Shape 3"/>
          <p:cNvSpPr/>
          <p:nvPr/>
        </p:nvSpPr>
        <p:spPr>
          <a:xfrm>
            <a:off x="320040" y="1143000"/>
            <a:ext cx="1207008" cy="384048"/>
          </a:xfrm>
          <a:prstGeom prst="rect">
            <a:avLst/>
          </a:prstGeom>
          <a:solidFill>
            <a:srgbClr val="1565C0"/>
          </a:solidFill>
          <a:ln w="12700">
            <a:solidFill>
              <a:srgbClr val="1565C0"/>
            </a:solidFill>
            <a:prstDash val="solid"/>
          </a:ln>
        </p:spPr>
        <p:txBody>
          <a:bodyPr/>
          <a:lstStyle/>
          <a:p>
            <a:endParaRPr lang="en-US"/>
          </a:p>
        </p:txBody>
      </p:sp>
      <p:sp>
        <p:nvSpPr>
          <p:cNvPr id="6" name="Text 4"/>
          <p:cNvSpPr/>
          <p:nvPr/>
        </p:nvSpPr>
        <p:spPr>
          <a:xfrm>
            <a:off x="356616" y="1161288"/>
            <a:ext cx="1133856" cy="347472"/>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weather_forecast</a:t>
            </a:r>
            <a:endParaRPr lang="en-US" sz="900" dirty="0"/>
          </a:p>
        </p:txBody>
      </p:sp>
      <p:sp>
        <p:nvSpPr>
          <p:cNvPr id="7" name="Shape 5"/>
          <p:cNvSpPr/>
          <p:nvPr/>
        </p:nvSpPr>
        <p:spPr>
          <a:xfrm>
            <a:off x="320040" y="1527048"/>
            <a:ext cx="1207008" cy="1234440"/>
          </a:xfrm>
          <a:prstGeom prst="rect">
            <a:avLst/>
          </a:prstGeom>
          <a:solidFill>
            <a:srgbClr val="FFFFFF"/>
          </a:solidFill>
          <a:ln w="12700">
            <a:solidFill>
              <a:srgbClr val="1565C0"/>
            </a:solidFill>
            <a:prstDash val="solid"/>
          </a:ln>
        </p:spPr>
        <p:txBody>
          <a:bodyPr/>
          <a:lstStyle/>
          <a:p>
            <a:endParaRPr lang="en-US"/>
          </a:p>
        </p:txBody>
      </p:sp>
      <p:sp>
        <p:nvSpPr>
          <p:cNvPr id="8" name="Text 6"/>
          <p:cNvSpPr/>
          <p:nvPr/>
        </p:nvSpPr>
        <p:spPr>
          <a:xfrm>
            <a:off x="365760" y="1554480"/>
            <a:ext cx="1115568" cy="274320"/>
          </a:xfrm>
          <a:prstGeom prst="rect">
            <a:avLst/>
          </a:prstGeom>
          <a:noFill/>
          <a:ln/>
        </p:spPr>
        <p:txBody>
          <a:bodyPr wrap="square" rtlCol="0" anchor="ctr"/>
          <a:lstStyle/>
          <a:p>
            <a:pPr marL="0" indent="0">
              <a:buNone/>
            </a:pPr>
            <a:r>
              <a:rPr lang="en-US" sz="850" b="1" dirty="0">
                <a:solidFill>
                  <a:srgbClr val="1565C0"/>
                </a:solidFill>
                <a:latin typeface="Calibri" pitchFamily="34" charset="0"/>
                <a:ea typeface="Calibri" pitchFamily="34" charset="-122"/>
                <a:cs typeface="Calibri" pitchFamily="34" charset="-120"/>
              </a:rPr>
              <a:t>PK: forecast_id</a:t>
            </a:r>
            <a:endParaRPr lang="en-US" sz="850" dirty="0"/>
          </a:p>
        </p:txBody>
      </p:sp>
      <p:sp>
        <p:nvSpPr>
          <p:cNvPr id="9" name="Text 7"/>
          <p:cNvSpPr/>
          <p:nvPr/>
        </p:nvSpPr>
        <p:spPr>
          <a:xfrm>
            <a:off x="365760" y="1847088"/>
            <a:ext cx="1115568" cy="868680"/>
          </a:xfrm>
          <a:prstGeom prst="rect">
            <a:avLst/>
          </a:prstGeom>
          <a:noFill/>
          <a:ln/>
        </p:spPr>
        <p:txBody>
          <a:bodyPr wrap="square" rtlCol="0" anchor="ctr"/>
          <a:lstStyle/>
          <a:p>
            <a:pPr marL="0" indent="0">
              <a:buNone/>
            </a:pPr>
            <a:r>
              <a:rPr lang="en-US" sz="850" dirty="0">
                <a:solidFill>
                  <a:srgbClr val="333355"/>
                </a:solidFill>
                <a:latin typeface="Calibri" pitchFamily="34" charset="0"/>
                <a:ea typeface="Calibri" pitchFamily="34" charset="-122"/>
                <a:cs typeface="Calibri" pitchFamily="34" charset="-120"/>
              </a:rPr>
              <a:t>date, temp max/min</a:t>
            </a:r>
            <a:endParaRPr lang="en-US" sz="850" dirty="0"/>
          </a:p>
          <a:p>
            <a:pPr marL="0" indent="0">
              <a:buNone/>
            </a:pPr>
            <a:r>
              <a:rPr lang="en-US" sz="850" dirty="0">
                <a:solidFill>
                  <a:srgbClr val="333355"/>
                </a:solidFill>
                <a:latin typeface="Calibri" pitchFamily="34" charset="0"/>
                <a:ea typeface="Calibri" pitchFamily="34" charset="-122"/>
                <a:cs typeface="Calibri" pitchFamily="34" charset="-120"/>
              </a:rPr>
              <a:t>precip, wind, vibe</a:t>
            </a:r>
            <a:endParaRPr lang="en-US" sz="850" dirty="0"/>
          </a:p>
        </p:txBody>
      </p:sp>
      <p:sp>
        <p:nvSpPr>
          <p:cNvPr id="10" name="Shape 8"/>
          <p:cNvSpPr/>
          <p:nvPr/>
        </p:nvSpPr>
        <p:spPr>
          <a:xfrm>
            <a:off x="1645920" y="1143000"/>
            <a:ext cx="1207008" cy="384048"/>
          </a:xfrm>
          <a:prstGeom prst="rect">
            <a:avLst/>
          </a:prstGeom>
          <a:solidFill>
            <a:srgbClr val="2E7D32"/>
          </a:solidFill>
          <a:ln w="12700">
            <a:solidFill>
              <a:srgbClr val="2E7D32"/>
            </a:solidFill>
            <a:prstDash val="solid"/>
          </a:ln>
        </p:spPr>
        <p:txBody>
          <a:bodyPr/>
          <a:lstStyle/>
          <a:p>
            <a:endParaRPr lang="en-US"/>
          </a:p>
        </p:txBody>
      </p:sp>
      <p:sp>
        <p:nvSpPr>
          <p:cNvPr id="11" name="Text 9"/>
          <p:cNvSpPr/>
          <p:nvPr/>
        </p:nvSpPr>
        <p:spPr>
          <a:xfrm>
            <a:off x="1682496" y="1161288"/>
            <a:ext cx="1133856" cy="347472"/>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vibe_dimension</a:t>
            </a:r>
            <a:endParaRPr lang="en-US" sz="900" dirty="0"/>
          </a:p>
        </p:txBody>
      </p:sp>
      <p:sp>
        <p:nvSpPr>
          <p:cNvPr id="12" name="Shape 10"/>
          <p:cNvSpPr/>
          <p:nvPr/>
        </p:nvSpPr>
        <p:spPr>
          <a:xfrm>
            <a:off x="1645920" y="1527048"/>
            <a:ext cx="1207008" cy="1234440"/>
          </a:xfrm>
          <a:prstGeom prst="rect">
            <a:avLst/>
          </a:prstGeom>
          <a:solidFill>
            <a:srgbClr val="FFFFFF"/>
          </a:solidFill>
          <a:ln w="12700">
            <a:solidFill>
              <a:srgbClr val="2E7D32"/>
            </a:solidFill>
            <a:prstDash val="solid"/>
          </a:ln>
        </p:spPr>
        <p:txBody>
          <a:bodyPr/>
          <a:lstStyle/>
          <a:p>
            <a:endParaRPr lang="en-US"/>
          </a:p>
        </p:txBody>
      </p:sp>
      <p:sp>
        <p:nvSpPr>
          <p:cNvPr id="13" name="Text 11"/>
          <p:cNvSpPr/>
          <p:nvPr/>
        </p:nvSpPr>
        <p:spPr>
          <a:xfrm>
            <a:off x="1691640" y="1554480"/>
            <a:ext cx="1115568" cy="274320"/>
          </a:xfrm>
          <a:prstGeom prst="rect">
            <a:avLst/>
          </a:prstGeom>
          <a:noFill/>
          <a:ln/>
        </p:spPr>
        <p:txBody>
          <a:bodyPr wrap="square" rtlCol="0" anchor="ctr"/>
          <a:lstStyle/>
          <a:p>
            <a:pPr marL="0" indent="0">
              <a:buNone/>
            </a:pPr>
            <a:r>
              <a:rPr lang="en-US" sz="850" b="1" dirty="0">
                <a:solidFill>
                  <a:srgbClr val="2E7D32"/>
                </a:solidFill>
                <a:latin typeface="Calibri" pitchFamily="34" charset="0"/>
                <a:ea typeface="Calibri" pitchFamily="34" charset="-122"/>
                <a:cs typeface="Calibri" pitchFamily="34" charset="-120"/>
              </a:rPr>
              <a:t>PK: vibe_id</a:t>
            </a:r>
            <a:endParaRPr lang="en-US" sz="850" dirty="0"/>
          </a:p>
        </p:txBody>
      </p:sp>
      <p:sp>
        <p:nvSpPr>
          <p:cNvPr id="14" name="Text 12"/>
          <p:cNvSpPr/>
          <p:nvPr/>
        </p:nvSpPr>
        <p:spPr>
          <a:xfrm>
            <a:off x="1691640" y="1847088"/>
            <a:ext cx="1115568" cy="868680"/>
          </a:xfrm>
          <a:prstGeom prst="rect">
            <a:avLst/>
          </a:prstGeom>
          <a:noFill/>
          <a:ln/>
        </p:spPr>
        <p:txBody>
          <a:bodyPr wrap="square" rtlCol="0" anchor="ctr"/>
          <a:lstStyle/>
          <a:p>
            <a:pPr marL="0" indent="0">
              <a:buNone/>
            </a:pPr>
            <a:r>
              <a:rPr lang="en-US" sz="850" dirty="0">
                <a:solidFill>
                  <a:srgbClr val="333355"/>
                </a:solidFill>
                <a:latin typeface="Calibri" pitchFamily="34" charset="0"/>
                <a:ea typeface="Calibri" pitchFamily="34" charset="-122"/>
                <a:cs typeface="Calibri" pitchFamily="34" charset="-120"/>
              </a:rPr>
              <a:t>vibe_name, description</a:t>
            </a:r>
            <a:endParaRPr lang="en-US" sz="850" dirty="0"/>
          </a:p>
          <a:p>
            <a:pPr marL="0" indent="0">
              <a:buNone/>
            </a:pPr>
            <a:r>
              <a:rPr lang="en-US" sz="850" dirty="0">
                <a:solidFill>
                  <a:srgbClr val="333355"/>
                </a:solidFill>
                <a:latin typeface="Calibri" pitchFamily="34" charset="0"/>
                <a:ea typeface="Calibri" pitchFamily="34" charset="-122"/>
                <a:cs typeface="Calibri" pitchFamily="34" charset="-120"/>
              </a:rPr>
              <a:t>parameters, emoji</a:t>
            </a:r>
            <a:endParaRPr lang="en-US" sz="850" dirty="0"/>
          </a:p>
        </p:txBody>
      </p:sp>
      <p:sp>
        <p:nvSpPr>
          <p:cNvPr id="15" name="Shape 13"/>
          <p:cNvSpPr/>
          <p:nvPr/>
        </p:nvSpPr>
        <p:spPr>
          <a:xfrm>
            <a:off x="2971800" y="1143000"/>
            <a:ext cx="1207008" cy="384048"/>
          </a:xfrm>
          <a:prstGeom prst="rect">
            <a:avLst/>
          </a:prstGeom>
          <a:solidFill>
            <a:srgbClr val="E65100"/>
          </a:solidFill>
          <a:ln w="12700">
            <a:solidFill>
              <a:srgbClr val="E65100"/>
            </a:solidFill>
            <a:prstDash val="solid"/>
          </a:ln>
        </p:spPr>
        <p:txBody>
          <a:bodyPr/>
          <a:lstStyle/>
          <a:p>
            <a:endParaRPr lang="en-US"/>
          </a:p>
        </p:txBody>
      </p:sp>
      <p:sp>
        <p:nvSpPr>
          <p:cNvPr id="16" name="Text 14"/>
          <p:cNvSpPr/>
          <p:nvPr/>
        </p:nvSpPr>
        <p:spPr>
          <a:xfrm>
            <a:off x="3008376" y="1161288"/>
            <a:ext cx="1133856" cy="347472"/>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fit_recommendations</a:t>
            </a:r>
            <a:endParaRPr lang="en-US" sz="900" dirty="0"/>
          </a:p>
        </p:txBody>
      </p:sp>
      <p:sp>
        <p:nvSpPr>
          <p:cNvPr id="17" name="Shape 15"/>
          <p:cNvSpPr/>
          <p:nvPr/>
        </p:nvSpPr>
        <p:spPr>
          <a:xfrm>
            <a:off x="2971800" y="1527048"/>
            <a:ext cx="1207008" cy="1234440"/>
          </a:xfrm>
          <a:prstGeom prst="rect">
            <a:avLst/>
          </a:prstGeom>
          <a:solidFill>
            <a:srgbClr val="FFFFFF"/>
          </a:solidFill>
          <a:ln w="12700">
            <a:solidFill>
              <a:srgbClr val="E65100"/>
            </a:solidFill>
            <a:prstDash val="solid"/>
          </a:ln>
        </p:spPr>
        <p:txBody>
          <a:bodyPr/>
          <a:lstStyle/>
          <a:p>
            <a:endParaRPr lang="en-US"/>
          </a:p>
        </p:txBody>
      </p:sp>
      <p:sp>
        <p:nvSpPr>
          <p:cNvPr id="18" name="Text 16"/>
          <p:cNvSpPr/>
          <p:nvPr/>
        </p:nvSpPr>
        <p:spPr>
          <a:xfrm>
            <a:off x="3017520" y="1554480"/>
            <a:ext cx="1115568" cy="274320"/>
          </a:xfrm>
          <a:prstGeom prst="rect">
            <a:avLst/>
          </a:prstGeom>
          <a:noFill/>
          <a:ln/>
        </p:spPr>
        <p:txBody>
          <a:bodyPr wrap="square" rtlCol="0" anchor="ctr"/>
          <a:lstStyle/>
          <a:p>
            <a:pPr marL="0" indent="0">
              <a:buNone/>
            </a:pPr>
            <a:r>
              <a:rPr lang="en-US" sz="850" b="1" dirty="0">
                <a:solidFill>
                  <a:srgbClr val="E65100"/>
                </a:solidFill>
                <a:latin typeface="Calibri" pitchFamily="34" charset="0"/>
                <a:ea typeface="Calibri" pitchFamily="34" charset="-122"/>
                <a:cs typeface="Calibri" pitchFamily="34" charset="-120"/>
              </a:rPr>
              <a:t>PK: fit_id</a:t>
            </a:r>
            <a:endParaRPr lang="en-US" sz="850" dirty="0"/>
          </a:p>
        </p:txBody>
      </p:sp>
      <p:sp>
        <p:nvSpPr>
          <p:cNvPr id="19" name="Text 17"/>
          <p:cNvSpPr/>
          <p:nvPr/>
        </p:nvSpPr>
        <p:spPr>
          <a:xfrm>
            <a:off x="3017520" y="1847088"/>
            <a:ext cx="1115568" cy="868680"/>
          </a:xfrm>
          <a:prstGeom prst="rect">
            <a:avLst/>
          </a:prstGeom>
          <a:noFill/>
          <a:ln/>
        </p:spPr>
        <p:txBody>
          <a:bodyPr wrap="square" rtlCol="0" anchor="ctr"/>
          <a:lstStyle/>
          <a:p>
            <a:pPr marL="0" indent="0">
              <a:buNone/>
            </a:pPr>
            <a:r>
              <a:rPr lang="en-US" sz="850" dirty="0">
                <a:solidFill>
                  <a:srgbClr val="333355"/>
                </a:solidFill>
                <a:latin typeface="Calibri" pitchFamily="34" charset="0"/>
                <a:ea typeface="Calibri" pitchFamily="34" charset="-122"/>
                <a:cs typeface="Calibri" pitchFamily="34" charset="-120"/>
              </a:rPr>
              <a:t>vibe_name, fit</a:t>
            </a:r>
            <a:endParaRPr lang="en-US" sz="850" dirty="0"/>
          </a:p>
          <a:p>
            <a:pPr marL="0" indent="0">
              <a:buNone/>
            </a:pPr>
            <a:r>
              <a:rPr lang="en-US" sz="850" dirty="0">
                <a:solidFill>
                  <a:srgbClr val="333355"/>
                </a:solidFill>
                <a:latin typeface="Calibri" pitchFamily="34" charset="0"/>
                <a:ea typeface="Calibri" pitchFamily="34" charset="-122"/>
                <a:cs typeface="Calibri" pitchFamily="34" charset="-120"/>
              </a:rPr>
              <a:t>accessory, emoji</a:t>
            </a:r>
            <a:endParaRPr lang="en-US" sz="850" dirty="0"/>
          </a:p>
        </p:txBody>
      </p:sp>
      <p:sp>
        <p:nvSpPr>
          <p:cNvPr id="20" name="Shape 18"/>
          <p:cNvSpPr/>
          <p:nvPr/>
        </p:nvSpPr>
        <p:spPr>
          <a:xfrm>
            <a:off x="4297680" y="1143000"/>
            <a:ext cx="1207008" cy="384048"/>
          </a:xfrm>
          <a:prstGeom prst="rect">
            <a:avLst/>
          </a:prstGeom>
          <a:solidFill>
            <a:srgbClr val="6A1B9A"/>
          </a:solidFill>
          <a:ln w="12700">
            <a:solidFill>
              <a:srgbClr val="6A1B9A"/>
            </a:solidFill>
            <a:prstDash val="solid"/>
          </a:ln>
        </p:spPr>
        <p:txBody>
          <a:bodyPr/>
          <a:lstStyle/>
          <a:p>
            <a:endParaRPr lang="en-US"/>
          </a:p>
        </p:txBody>
      </p:sp>
      <p:sp>
        <p:nvSpPr>
          <p:cNvPr id="21" name="Text 19"/>
          <p:cNvSpPr/>
          <p:nvPr/>
        </p:nvSpPr>
        <p:spPr>
          <a:xfrm>
            <a:off x="4334256" y="1161288"/>
            <a:ext cx="1133856" cy="347472"/>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forecast_vibe</a:t>
            </a:r>
            <a:endParaRPr lang="en-US" sz="900" dirty="0"/>
          </a:p>
          <a:p>
            <a:pPr marL="0" indent="0">
              <a:buNone/>
            </a:pPr>
            <a:r>
              <a:rPr lang="en-US" sz="900" b="1" dirty="0">
                <a:solidFill>
                  <a:srgbClr val="FFFFFF"/>
                </a:solidFill>
                <a:latin typeface="Calibri" pitchFamily="34" charset="0"/>
                <a:ea typeface="Calibri" pitchFamily="34" charset="-122"/>
                <a:cs typeface="Calibri" pitchFamily="34" charset="-120"/>
              </a:rPr>
              <a:t>(bridge)</a:t>
            </a:r>
            <a:endParaRPr lang="en-US" sz="900" dirty="0"/>
          </a:p>
        </p:txBody>
      </p:sp>
      <p:sp>
        <p:nvSpPr>
          <p:cNvPr id="22" name="Shape 20"/>
          <p:cNvSpPr/>
          <p:nvPr/>
        </p:nvSpPr>
        <p:spPr>
          <a:xfrm>
            <a:off x="4297680" y="1527048"/>
            <a:ext cx="1207008" cy="1234440"/>
          </a:xfrm>
          <a:prstGeom prst="rect">
            <a:avLst/>
          </a:prstGeom>
          <a:solidFill>
            <a:srgbClr val="FFFFFF"/>
          </a:solidFill>
          <a:ln w="12700">
            <a:solidFill>
              <a:srgbClr val="6A1B9A"/>
            </a:solidFill>
            <a:prstDash val="solid"/>
          </a:ln>
        </p:spPr>
        <p:txBody>
          <a:bodyPr/>
          <a:lstStyle/>
          <a:p>
            <a:endParaRPr lang="en-US"/>
          </a:p>
        </p:txBody>
      </p:sp>
      <p:sp>
        <p:nvSpPr>
          <p:cNvPr id="23" name="Text 21"/>
          <p:cNvSpPr/>
          <p:nvPr/>
        </p:nvSpPr>
        <p:spPr>
          <a:xfrm>
            <a:off x="4343400" y="1554480"/>
            <a:ext cx="1115568" cy="274320"/>
          </a:xfrm>
          <a:prstGeom prst="rect">
            <a:avLst/>
          </a:prstGeom>
          <a:noFill/>
          <a:ln/>
        </p:spPr>
        <p:txBody>
          <a:bodyPr wrap="square" rtlCol="0" anchor="ctr"/>
          <a:lstStyle/>
          <a:p>
            <a:pPr marL="0" indent="0">
              <a:buNone/>
            </a:pPr>
            <a:r>
              <a:rPr lang="en-US" sz="850" b="1" dirty="0">
                <a:solidFill>
                  <a:srgbClr val="6A1B9A"/>
                </a:solidFill>
                <a:latin typeface="Calibri" pitchFamily="34" charset="0"/>
                <a:ea typeface="Calibri" pitchFamily="34" charset="-122"/>
                <a:cs typeface="Calibri" pitchFamily="34" charset="-120"/>
              </a:rPr>
              <a:t>PK: FK: forecast_id</a:t>
            </a:r>
            <a:endParaRPr lang="en-US" sz="850" dirty="0"/>
          </a:p>
          <a:p>
            <a:pPr marL="0" indent="0">
              <a:buNone/>
            </a:pPr>
            <a:r>
              <a:rPr lang="en-US" sz="850" b="1" dirty="0">
                <a:solidFill>
                  <a:srgbClr val="6A1B9A"/>
                </a:solidFill>
                <a:latin typeface="Calibri" pitchFamily="34" charset="0"/>
                <a:ea typeface="Calibri" pitchFamily="34" charset="-122"/>
                <a:cs typeface="Calibri" pitchFamily="34" charset="-120"/>
              </a:rPr>
              <a:t>vibe_id, fit_id</a:t>
            </a:r>
            <a:endParaRPr lang="en-US" sz="850" dirty="0"/>
          </a:p>
        </p:txBody>
      </p:sp>
      <p:sp>
        <p:nvSpPr>
          <p:cNvPr id="24" name="Text 22"/>
          <p:cNvSpPr/>
          <p:nvPr/>
        </p:nvSpPr>
        <p:spPr>
          <a:xfrm>
            <a:off x="4343400" y="1847088"/>
            <a:ext cx="1115568" cy="868680"/>
          </a:xfrm>
          <a:prstGeom prst="rect">
            <a:avLst/>
          </a:prstGeom>
          <a:noFill/>
          <a:ln/>
        </p:spPr>
        <p:txBody>
          <a:bodyPr wrap="square" rtlCol="0" anchor="ctr"/>
          <a:lstStyle/>
          <a:p>
            <a:pPr marL="0" indent="0">
              <a:buNone/>
            </a:pPr>
            <a:r>
              <a:rPr lang="en-US" sz="850" dirty="0">
                <a:solidFill>
                  <a:srgbClr val="333355"/>
                </a:solidFill>
                <a:latin typeface="Calibri" pitchFamily="34" charset="0"/>
                <a:ea typeface="Calibri" pitchFamily="34" charset="-122"/>
                <a:cs typeface="Calibri" pitchFamily="34" charset="-120"/>
              </a:rPr>
              <a:t>3 foreign keys</a:t>
            </a:r>
            <a:endParaRPr lang="en-US" sz="850" dirty="0"/>
          </a:p>
          <a:p>
            <a:pPr marL="0" indent="0">
              <a:buNone/>
            </a:pPr>
            <a:r>
              <a:rPr lang="en-US" sz="850" dirty="0">
                <a:solidFill>
                  <a:srgbClr val="333355"/>
                </a:solidFill>
                <a:latin typeface="Calibri" pitchFamily="34" charset="0"/>
                <a:ea typeface="Calibri" pitchFamily="34" charset="-122"/>
                <a:cs typeface="Calibri" pitchFamily="34" charset="-120"/>
              </a:rPr>
              <a:t>linking all tables</a:t>
            </a:r>
            <a:endParaRPr lang="en-US" sz="850" dirty="0"/>
          </a:p>
        </p:txBody>
      </p:sp>
      <p:sp>
        <p:nvSpPr>
          <p:cNvPr id="26" name="Text 24"/>
          <p:cNvSpPr/>
          <p:nvPr/>
        </p:nvSpPr>
        <p:spPr>
          <a:xfrm>
            <a:off x="4572000" y="1828800"/>
            <a:ext cx="822960" cy="274320"/>
          </a:xfrm>
          <a:prstGeom prst="rect">
            <a:avLst/>
          </a:prstGeom>
          <a:noFill/>
          <a:ln/>
        </p:spPr>
        <p:txBody>
          <a:bodyPr wrap="square" rtlCol="0" anchor="ctr"/>
          <a:lstStyle/>
          <a:p>
            <a:pPr marL="0" indent="0">
              <a:buNone/>
            </a:pPr>
            <a:r>
              <a:rPr lang="en-US" sz="900" i="1" dirty="0">
                <a:solidFill>
                  <a:srgbClr val="AABBCC"/>
                </a:solidFill>
                <a:latin typeface="Calibri" pitchFamily="34" charset="0"/>
                <a:ea typeface="Calibri" pitchFamily="34" charset="-122"/>
                <a:cs typeface="Calibri" pitchFamily="34" charset="-120"/>
              </a:rPr>
              <a:t>SQL JOIN</a:t>
            </a:r>
            <a:endParaRPr lang="en-US" sz="900" dirty="0"/>
          </a:p>
        </p:txBody>
      </p:sp>
      <p:sp>
        <p:nvSpPr>
          <p:cNvPr id="27" name="Text 25"/>
          <p:cNvSpPr/>
          <p:nvPr/>
        </p:nvSpPr>
        <p:spPr>
          <a:xfrm>
            <a:off x="4493086" y="2889504"/>
            <a:ext cx="274320" cy="228600"/>
          </a:xfrm>
          <a:prstGeom prst="rect">
            <a:avLst/>
          </a:prstGeom>
          <a:noFill/>
          <a:ln/>
        </p:spPr>
        <p:txBody>
          <a:bodyPr wrap="square" rtlCol="0" anchor="ctr"/>
          <a:lstStyle/>
          <a:p>
            <a:pPr marL="0" indent="0">
              <a:buNone/>
            </a:pPr>
            <a:r>
              <a:rPr lang="en-US" sz="1400" dirty="0">
                <a:solidFill>
                  <a:srgbClr val="AABBCC"/>
                </a:solidFill>
                <a:latin typeface="Calibri" pitchFamily="34" charset="0"/>
                <a:ea typeface="Calibri" pitchFamily="34" charset="-122"/>
                <a:cs typeface="Calibri" pitchFamily="34" charset="-120"/>
              </a:rPr>
              <a:t>▼</a:t>
            </a:r>
            <a:endParaRPr lang="en-US" sz="1400" dirty="0"/>
          </a:p>
        </p:txBody>
      </p:sp>
      <p:sp>
        <p:nvSpPr>
          <p:cNvPr id="28" name="Text 26"/>
          <p:cNvSpPr/>
          <p:nvPr/>
        </p:nvSpPr>
        <p:spPr>
          <a:xfrm>
            <a:off x="320040" y="2944368"/>
            <a:ext cx="8503920" cy="320040"/>
          </a:xfrm>
          <a:prstGeom prst="rect">
            <a:avLst/>
          </a:prstGeom>
          <a:noFill/>
          <a:ln/>
        </p:spPr>
        <p:txBody>
          <a:bodyPr wrap="square" rtlCol="0" anchor="ctr"/>
          <a:lstStyle/>
          <a:p>
            <a:pPr marL="0" indent="0">
              <a:buNone/>
            </a:pPr>
            <a:r>
              <a:rPr lang="en-US" sz="1100" b="1" dirty="0">
                <a:solidFill>
                  <a:srgbClr val="1E5631"/>
                </a:solidFill>
                <a:latin typeface="Calibri" pitchFamily="34" charset="0"/>
                <a:ea typeface="Calibri" pitchFamily="34" charset="-122"/>
                <a:cs typeface="Calibri" pitchFamily="34" charset="-120"/>
              </a:rPr>
              <a:t>LAYER 2 — Power BI Star Schema (forecast_fits.csv)</a:t>
            </a:r>
            <a:endParaRPr lang="en-US" sz="1100" dirty="0"/>
          </a:p>
        </p:txBody>
      </p:sp>
      <p:sp>
        <p:nvSpPr>
          <p:cNvPr id="29" name="Shape 27"/>
          <p:cNvSpPr/>
          <p:nvPr/>
        </p:nvSpPr>
        <p:spPr>
          <a:xfrm>
            <a:off x="320040" y="3310128"/>
            <a:ext cx="2651760" cy="320040"/>
          </a:xfrm>
          <a:prstGeom prst="rect">
            <a:avLst/>
          </a:prstGeom>
          <a:solidFill>
            <a:srgbClr val="2E7D32"/>
          </a:solidFill>
          <a:ln w="12700">
            <a:solidFill>
              <a:srgbClr val="2E7D32"/>
            </a:solidFill>
            <a:prstDash val="solid"/>
          </a:ln>
        </p:spPr>
        <p:txBody>
          <a:bodyPr/>
          <a:lstStyle/>
          <a:p>
            <a:endParaRPr lang="en-US"/>
          </a:p>
        </p:txBody>
      </p:sp>
      <p:sp>
        <p:nvSpPr>
          <p:cNvPr id="30" name="Text 28"/>
          <p:cNvSpPr/>
          <p:nvPr/>
        </p:nvSpPr>
        <p:spPr>
          <a:xfrm>
            <a:off x="393192" y="3328416"/>
            <a:ext cx="2505456"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vibe_dimension  —  DIM</a:t>
            </a:r>
            <a:endParaRPr lang="en-US" sz="1000" dirty="0"/>
          </a:p>
        </p:txBody>
      </p:sp>
      <p:sp>
        <p:nvSpPr>
          <p:cNvPr id="31" name="Shape 29"/>
          <p:cNvSpPr/>
          <p:nvPr/>
        </p:nvSpPr>
        <p:spPr>
          <a:xfrm>
            <a:off x="320040" y="3630168"/>
            <a:ext cx="2651760" cy="777240"/>
          </a:xfrm>
          <a:prstGeom prst="rect">
            <a:avLst/>
          </a:prstGeom>
          <a:solidFill>
            <a:srgbClr val="FFFFFF"/>
          </a:solidFill>
          <a:ln w="12700">
            <a:solidFill>
              <a:srgbClr val="2E7D32"/>
            </a:solidFill>
            <a:prstDash val="solid"/>
          </a:ln>
        </p:spPr>
        <p:txBody>
          <a:bodyPr/>
          <a:lstStyle/>
          <a:p>
            <a:endParaRPr lang="en-US"/>
          </a:p>
        </p:txBody>
      </p:sp>
      <p:sp>
        <p:nvSpPr>
          <p:cNvPr id="32" name="Text 30"/>
          <p:cNvSpPr/>
          <p:nvPr/>
        </p:nvSpPr>
        <p:spPr>
          <a:xfrm>
            <a:off x="393192" y="3657600"/>
            <a:ext cx="2505456" cy="347472"/>
          </a:xfrm>
          <a:prstGeom prst="rect">
            <a:avLst/>
          </a:prstGeom>
          <a:noFill/>
          <a:ln/>
        </p:spPr>
        <p:txBody>
          <a:bodyPr wrap="square" rtlCol="0" anchor="ctr"/>
          <a:lstStyle/>
          <a:p>
            <a:pPr marL="0" indent="0">
              <a:buNone/>
            </a:pPr>
            <a:r>
              <a:rPr lang="en-US" sz="900" b="1" dirty="0">
                <a:solidFill>
                  <a:srgbClr val="2E7D32"/>
                </a:solidFill>
                <a:latin typeface="Calibri" pitchFamily="34" charset="0"/>
                <a:ea typeface="Calibri" pitchFamily="34" charset="-122"/>
                <a:cs typeface="Calibri" pitchFamily="34" charset="-120"/>
              </a:rPr>
              <a:t>PK: vibe_id</a:t>
            </a:r>
            <a:endParaRPr lang="en-US" sz="900" dirty="0"/>
          </a:p>
        </p:txBody>
      </p:sp>
      <p:sp>
        <p:nvSpPr>
          <p:cNvPr id="33" name="Text 31"/>
          <p:cNvSpPr/>
          <p:nvPr/>
        </p:nvSpPr>
        <p:spPr>
          <a:xfrm>
            <a:off x="393192" y="4023360"/>
            <a:ext cx="2505456" cy="347472"/>
          </a:xfrm>
          <a:prstGeom prst="rect">
            <a:avLst/>
          </a:prstGeom>
          <a:noFill/>
          <a:ln/>
        </p:spPr>
        <p:txBody>
          <a:bodyPr wrap="square" rtlCol="0" anchor="ctr"/>
          <a:lstStyle/>
          <a:p>
            <a:pPr marL="0" indent="0">
              <a:buNone/>
            </a:pPr>
            <a:r>
              <a:rPr lang="en-US" sz="900" dirty="0">
                <a:solidFill>
                  <a:srgbClr val="444444"/>
                </a:solidFill>
                <a:latin typeface="Calibri" pitchFamily="34" charset="0"/>
                <a:ea typeface="Calibri" pitchFamily="34" charset="-122"/>
                <a:cs typeface="Calibri" pitchFamily="34" charset="-120"/>
              </a:rPr>
              <a:t>11 rows — all vibes</a:t>
            </a:r>
            <a:endParaRPr lang="en-US" sz="900" dirty="0"/>
          </a:p>
        </p:txBody>
      </p:sp>
      <p:sp>
        <p:nvSpPr>
          <p:cNvPr id="34" name="Shape 32"/>
          <p:cNvSpPr/>
          <p:nvPr/>
        </p:nvSpPr>
        <p:spPr>
          <a:xfrm>
            <a:off x="3200400" y="3310128"/>
            <a:ext cx="2651760" cy="320040"/>
          </a:xfrm>
          <a:prstGeom prst="rect">
            <a:avLst/>
          </a:prstGeom>
          <a:solidFill>
            <a:srgbClr val="1E5631"/>
          </a:solidFill>
          <a:ln w="12700">
            <a:solidFill>
              <a:srgbClr val="1E5631"/>
            </a:solidFill>
            <a:prstDash val="solid"/>
          </a:ln>
        </p:spPr>
        <p:txBody>
          <a:bodyPr/>
          <a:lstStyle/>
          <a:p>
            <a:endParaRPr lang="en-US"/>
          </a:p>
        </p:txBody>
      </p:sp>
      <p:sp>
        <p:nvSpPr>
          <p:cNvPr id="35" name="Text 33"/>
          <p:cNvSpPr/>
          <p:nvPr/>
        </p:nvSpPr>
        <p:spPr>
          <a:xfrm>
            <a:off x="3273552" y="3328416"/>
            <a:ext cx="2505456"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forecast_fits  —  FACT</a:t>
            </a:r>
            <a:endParaRPr lang="en-US" sz="1000" dirty="0"/>
          </a:p>
        </p:txBody>
      </p:sp>
      <p:sp>
        <p:nvSpPr>
          <p:cNvPr id="36" name="Shape 34"/>
          <p:cNvSpPr/>
          <p:nvPr/>
        </p:nvSpPr>
        <p:spPr>
          <a:xfrm>
            <a:off x="3200400" y="3630168"/>
            <a:ext cx="2651760" cy="777240"/>
          </a:xfrm>
          <a:prstGeom prst="rect">
            <a:avLst/>
          </a:prstGeom>
          <a:solidFill>
            <a:srgbClr val="E8F5E9"/>
          </a:solidFill>
          <a:ln w="12700">
            <a:solidFill>
              <a:srgbClr val="1E5631"/>
            </a:solidFill>
            <a:prstDash val="solid"/>
          </a:ln>
        </p:spPr>
        <p:txBody>
          <a:bodyPr/>
          <a:lstStyle/>
          <a:p>
            <a:endParaRPr lang="en-US"/>
          </a:p>
        </p:txBody>
      </p:sp>
      <p:sp>
        <p:nvSpPr>
          <p:cNvPr id="37" name="Text 35"/>
          <p:cNvSpPr/>
          <p:nvPr/>
        </p:nvSpPr>
        <p:spPr>
          <a:xfrm>
            <a:off x="3273552" y="3657600"/>
            <a:ext cx="2505456" cy="347472"/>
          </a:xfrm>
          <a:prstGeom prst="rect">
            <a:avLst/>
          </a:prstGeom>
          <a:noFill/>
          <a:ln/>
        </p:spPr>
        <p:txBody>
          <a:bodyPr wrap="square" rtlCol="0" anchor="ctr"/>
          <a:lstStyle/>
          <a:p>
            <a:pPr marL="0" indent="0">
              <a:buNone/>
            </a:pPr>
            <a:r>
              <a:rPr lang="en-US" sz="900" b="1" dirty="0">
                <a:solidFill>
                  <a:srgbClr val="1E5631"/>
                </a:solidFill>
                <a:latin typeface="Calibri" pitchFamily="34" charset="0"/>
                <a:ea typeface="Calibri" pitchFamily="34" charset="-122"/>
                <a:cs typeface="Calibri" pitchFamily="34" charset="-120"/>
              </a:rPr>
              <a:t>PK: forecast_fits_id</a:t>
            </a:r>
            <a:endParaRPr lang="en-US" sz="900" dirty="0"/>
          </a:p>
          <a:p>
            <a:pPr marL="0" indent="0">
              <a:buNone/>
            </a:pPr>
            <a:r>
              <a:rPr lang="en-US" sz="900" b="1" dirty="0">
                <a:solidFill>
                  <a:srgbClr val="1E5631"/>
                </a:solidFill>
                <a:latin typeface="Calibri" pitchFamily="34" charset="0"/>
                <a:ea typeface="Calibri" pitchFamily="34" charset="-122"/>
                <a:cs typeface="Calibri" pitchFamily="34" charset="-120"/>
              </a:rPr>
              <a:t>FK: vibe_id, fit_id</a:t>
            </a:r>
            <a:endParaRPr lang="en-US" sz="900" dirty="0"/>
          </a:p>
        </p:txBody>
      </p:sp>
      <p:sp>
        <p:nvSpPr>
          <p:cNvPr id="38" name="Text 36"/>
          <p:cNvSpPr/>
          <p:nvPr/>
        </p:nvSpPr>
        <p:spPr>
          <a:xfrm>
            <a:off x="3273552" y="4023360"/>
            <a:ext cx="2505456" cy="347472"/>
          </a:xfrm>
          <a:prstGeom prst="rect">
            <a:avLst/>
          </a:prstGeom>
          <a:noFill/>
          <a:ln/>
        </p:spPr>
        <p:txBody>
          <a:bodyPr wrap="square" rtlCol="0" anchor="ctr"/>
          <a:lstStyle/>
          <a:p>
            <a:pPr marL="0" indent="0">
              <a:buNone/>
            </a:pPr>
            <a:r>
              <a:rPr lang="en-US" sz="900" dirty="0">
                <a:solidFill>
                  <a:srgbClr val="444444"/>
                </a:solidFill>
                <a:latin typeface="Calibri" pitchFamily="34" charset="0"/>
                <a:ea typeface="Calibri" pitchFamily="34" charset="-122"/>
                <a:cs typeface="Calibri" pitchFamily="34" charset="-120"/>
              </a:rPr>
              <a:t>7 rows — current forecast</a:t>
            </a:r>
            <a:endParaRPr lang="en-US" sz="900" dirty="0"/>
          </a:p>
        </p:txBody>
      </p:sp>
      <p:sp>
        <p:nvSpPr>
          <p:cNvPr id="39" name="Shape 37"/>
          <p:cNvSpPr/>
          <p:nvPr/>
        </p:nvSpPr>
        <p:spPr>
          <a:xfrm>
            <a:off x="5943600" y="3310128"/>
            <a:ext cx="2651760" cy="320040"/>
          </a:xfrm>
          <a:prstGeom prst="rect">
            <a:avLst/>
          </a:prstGeom>
          <a:solidFill>
            <a:srgbClr val="E65100"/>
          </a:solidFill>
          <a:ln w="12700">
            <a:solidFill>
              <a:srgbClr val="E65100"/>
            </a:solidFill>
            <a:prstDash val="solid"/>
          </a:ln>
        </p:spPr>
        <p:txBody>
          <a:bodyPr/>
          <a:lstStyle/>
          <a:p>
            <a:endParaRPr lang="en-US"/>
          </a:p>
        </p:txBody>
      </p:sp>
      <p:sp>
        <p:nvSpPr>
          <p:cNvPr id="40" name="Text 38"/>
          <p:cNvSpPr/>
          <p:nvPr/>
        </p:nvSpPr>
        <p:spPr>
          <a:xfrm>
            <a:off x="6016752" y="3328416"/>
            <a:ext cx="2505456"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fit_recommendations  —  DIM</a:t>
            </a:r>
            <a:endParaRPr lang="en-US" sz="1000" dirty="0"/>
          </a:p>
        </p:txBody>
      </p:sp>
      <p:sp>
        <p:nvSpPr>
          <p:cNvPr id="41" name="Shape 39"/>
          <p:cNvSpPr/>
          <p:nvPr/>
        </p:nvSpPr>
        <p:spPr>
          <a:xfrm>
            <a:off x="5943600" y="3630168"/>
            <a:ext cx="2651760" cy="777240"/>
          </a:xfrm>
          <a:prstGeom prst="rect">
            <a:avLst/>
          </a:prstGeom>
          <a:solidFill>
            <a:srgbClr val="FFFFFF"/>
          </a:solidFill>
          <a:ln w="12700">
            <a:solidFill>
              <a:srgbClr val="E65100"/>
            </a:solidFill>
            <a:prstDash val="solid"/>
          </a:ln>
        </p:spPr>
        <p:txBody>
          <a:bodyPr/>
          <a:lstStyle/>
          <a:p>
            <a:endParaRPr lang="en-US"/>
          </a:p>
        </p:txBody>
      </p:sp>
      <p:sp>
        <p:nvSpPr>
          <p:cNvPr id="42" name="Text 40"/>
          <p:cNvSpPr/>
          <p:nvPr/>
        </p:nvSpPr>
        <p:spPr>
          <a:xfrm>
            <a:off x="6016752" y="3657600"/>
            <a:ext cx="2505456" cy="347472"/>
          </a:xfrm>
          <a:prstGeom prst="rect">
            <a:avLst/>
          </a:prstGeom>
          <a:noFill/>
          <a:ln/>
        </p:spPr>
        <p:txBody>
          <a:bodyPr wrap="square" rtlCol="0" anchor="ctr"/>
          <a:lstStyle/>
          <a:p>
            <a:pPr marL="0" indent="0">
              <a:buNone/>
            </a:pPr>
            <a:r>
              <a:rPr lang="en-US" sz="900" b="1" dirty="0">
                <a:solidFill>
                  <a:srgbClr val="E65100"/>
                </a:solidFill>
                <a:latin typeface="Calibri" pitchFamily="34" charset="0"/>
                <a:ea typeface="Calibri" pitchFamily="34" charset="-122"/>
                <a:cs typeface="Calibri" pitchFamily="34" charset="-120"/>
              </a:rPr>
              <a:t>PK: fit_id</a:t>
            </a:r>
            <a:endParaRPr lang="en-US" sz="900" dirty="0"/>
          </a:p>
        </p:txBody>
      </p:sp>
      <p:sp>
        <p:nvSpPr>
          <p:cNvPr id="43" name="Text 41"/>
          <p:cNvSpPr/>
          <p:nvPr/>
        </p:nvSpPr>
        <p:spPr>
          <a:xfrm>
            <a:off x="6016752" y="4023360"/>
            <a:ext cx="2505456" cy="347472"/>
          </a:xfrm>
          <a:prstGeom prst="rect">
            <a:avLst/>
          </a:prstGeom>
          <a:noFill/>
          <a:ln/>
        </p:spPr>
        <p:txBody>
          <a:bodyPr wrap="square" rtlCol="0" anchor="ctr"/>
          <a:lstStyle/>
          <a:p>
            <a:pPr marL="0" indent="0">
              <a:buNone/>
            </a:pPr>
            <a:r>
              <a:rPr lang="en-US" sz="900" dirty="0">
                <a:solidFill>
                  <a:srgbClr val="444444"/>
                </a:solidFill>
                <a:latin typeface="Calibri" pitchFamily="34" charset="0"/>
                <a:ea typeface="Calibri" pitchFamily="34" charset="-122"/>
                <a:cs typeface="Calibri" pitchFamily="34" charset="-120"/>
              </a:rPr>
              <a:t>11 rows — all fits</a:t>
            </a:r>
            <a:endParaRPr lang="en-US" sz="900" dirty="0"/>
          </a:p>
        </p:txBody>
      </p:sp>
      <p:sp>
        <p:nvSpPr>
          <p:cNvPr id="44" name="Shape 42"/>
          <p:cNvSpPr/>
          <p:nvPr/>
        </p:nvSpPr>
        <p:spPr>
          <a:xfrm>
            <a:off x="2971800" y="3858768"/>
            <a:ext cx="228600" cy="54864"/>
          </a:xfrm>
          <a:prstGeom prst="rect">
            <a:avLst/>
          </a:prstGeom>
          <a:solidFill>
            <a:srgbClr val="3A7D44"/>
          </a:solidFill>
          <a:ln w="12700">
            <a:solidFill>
              <a:srgbClr val="3A7D44"/>
            </a:solidFill>
            <a:prstDash val="solid"/>
          </a:ln>
        </p:spPr>
        <p:txBody>
          <a:bodyPr/>
          <a:lstStyle/>
          <a:p>
            <a:endParaRPr lang="en-US"/>
          </a:p>
        </p:txBody>
      </p:sp>
      <p:sp>
        <p:nvSpPr>
          <p:cNvPr id="45" name="Text 43"/>
          <p:cNvSpPr/>
          <p:nvPr/>
        </p:nvSpPr>
        <p:spPr>
          <a:xfrm>
            <a:off x="2148840" y="3749040"/>
            <a:ext cx="1097280" cy="228600"/>
          </a:xfrm>
          <a:prstGeom prst="rect">
            <a:avLst/>
          </a:prstGeom>
          <a:noFill/>
          <a:ln/>
        </p:spPr>
        <p:txBody>
          <a:bodyPr wrap="square" rtlCol="0" anchor="ctr"/>
          <a:lstStyle/>
          <a:p>
            <a:pPr marL="0" indent="0">
              <a:buNone/>
            </a:pPr>
            <a:r>
              <a:rPr lang="en-US" sz="800" dirty="0">
                <a:solidFill>
                  <a:srgbClr val="3A7D44"/>
                </a:solidFill>
                <a:latin typeface="Calibri" pitchFamily="34" charset="0"/>
                <a:ea typeface="Calibri" pitchFamily="34" charset="-122"/>
                <a:cs typeface="Calibri" pitchFamily="34" charset="-120"/>
              </a:rPr>
              <a:t>1:*  vibe_id</a:t>
            </a:r>
            <a:endParaRPr lang="en-US" sz="800" dirty="0"/>
          </a:p>
        </p:txBody>
      </p:sp>
      <p:sp>
        <p:nvSpPr>
          <p:cNvPr id="46" name="Shape 44"/>
          <p:cNvSpPr/>
          <p:nvPr/>
        </p:nvSpPr>
        <p:spPr>
          <a:xfrm>
            <a:off x="5852160" y="3858768"/>
            <a:ext cx="91440" cy="54864"/>
          </a:xfrm>
          <a:prstGeom prst="rect">
            <a:avLst/>
          </a:prstGeom>
          <a:solidFill>
            <a:srgbClr val="E65100"/>
          </a:solidFill>
          <a:ln w="12700">
            <a:solidFill>
              <a:srgbClr val="E65100"/>
            </a:solidFill>
            <a:prstDash val="solid"/>
          </a:ln>
        </p:spPr>
        <p:txBody>
          <a:bodyPr/>
          <a:lstStyle/>
          <a:p>
            <a:endParaRPr lang="en-US"/>
          </a:p>
        </p:txBody>
      </p:sp>
      <p:sp>
        <p:nvSpPr>
          <p:cNvPr id="47" name="Text 45"/>
          <p:cNvSpPr/>
          <p:nvPr/>
        </p:nvSpPr>
        <p:spPr>
          <a:xfrm>
            <a:off x="5852160" y="3749040"/>
            <a:ext cx="1005840" cy="228600"/>
          </a:xfrm>
          <a:prstGeom prst="rect">
            <a:avLst/>
          </a:prstGeom>
          <a:noFill/>
          <a:ln/>
        </p:spPr>
        <p:txBody>
          <a:bodyPr wrap="square" rtlCol="0" anchor="ctr"/>
          <a:lstStyle/>
          <a:p>
            <a:pPr marL="0" indent="0">
              <a:buNone/>
            </a:pPr>
            <a:r>
              <a:rPr lang="en-US" sz="800" dirty="0">
                <a:solidFill>
                  <a:srgbClr val="E65100"/>
                </a:solidFill>
                <a:latin typeface="Calibri" pitchFamily="34" charset="0"/>
                <a:ea typeface="Calibri" pitchFamily="34" charset="-122"/>
                <a:cs typeface="Calibri" pitchFamily="34" charset="-120"/>
              </a:rPr>
              <a:t>1:*  fit_id</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E"/>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w="12700">
            <a:solidFill>
              <a:srgbClr val="1E2761"/>
            </a:solidFill>
            <a:prstDash val="solid"/>
          </a:ln>
        </p:spPr>
        <p:txBody>
          <a:bodyPr/>
          <a:lstStyle/>
          <a:p>
            <a:endParaRPr lang="en-US"/>
          </a:p>
        </p:txBody>
      </p:sp>
      <p:sp>
        <p:nvSpPr>
          <p:cNvPr id="3" name="Text 1"/>
          <p:cNvSpPr/>
          <p:nvPr/>
        </p:nvSpPr>
        <p:spPr>
          <a:xfrm>
            <a:off x="365760" y="0"/>
            <a:ext cx="8229600" cy="6858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ETL and Validation</a:t>
            </a:r>
            <a:endParaRPr lang="en-US" sz="2200" dirty="0"/>
          </a:p>
        </p:txBody>
      </p:sp>
      <p:sp>
        <p:nvSpPr>
          <p:cNvPr id="4" name="Shape 2"/>
          <p:cNvSpPr/>
          <p:nvPr/>
        </p:nvSpPr>
        <p:spPr>
          <a:xfrm>
            <a:off x="320040" y="804672"/>
            <a:ext cx="4114800" cy="3977640"/>
          </a:xfrm>
          <a:prstGeom prst="rect">
            <a:avLst/>
          </a:prstGeom>
          <a:solidFill>
            <a:srgbClr val="FFFFFF"/>
          </a:solidFill>
          <a:ln w="12700">
            <a:solidFill>
              <a:srgbClr val="D0D8F0"/>
            </a:solidFill>
            <a:prstDash val="solid"/>
          </a:ln>
        </p:spPr>
        <p:txBody>
          <a:bodyPr/>
          <a:lstStyle/>
          <a:p>
            <a:endParaRPr lang="en-US"/>
          </a:p>
        </p:txBody>
      </p:sp>
      <p:sp>
        <p:nvSpPr>
          <p:cNvPr id="5" name="Text 3"/>
          <p:cNvSpPr/>
          <p:nvPr/>
        </p:nvSpPr>
        <p:spPr>
          <a:xfrm>
            <a:off x="457200" y="914400"/>
            <a:ext cx="3840480" cy="347472"/>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Vibe Classification Engine</a:t>
            </a:r>
            <a:endParaRPr lang="en-US" sz="1400" dirty="0"/>
          </a:p>
        </p:txBody>
      </p:sp>
      <p:sp>
        <p:nvSpPr>
          <p:cNvPr id="6" name="Text 4"/>
          <p:cNvSpPr/>
          <p:nvPr/>
        </p:nvSpPr>
        <p:spPr>
          <a:xfrm>
            <a:off x="457200" y="1298448"/>
            <a:ext cx="3840480" cy="274320"/>
          </a:xfrm>
          <a:prstGeom prst="rect">
            <a:avLst/>
          </a:prstGeom>
          <a:noFill/>
          <a:ln/>
        </p:spPr>
        <p:txBody>
          <a:bodyPr wrap="square" rtlCol="0" anchor="ctr"/>
          <a:lstStyle/>
          <a:p>
            <a:pPr marL="0" indent="0">
              <a:buNone/>
            </a:pPr>
            <a:r>
              <a:rPr lang="en-US" sz="1100" i="1" dirty="0">
                <a:solidFill>
                  <a:srgbClr val="7B9CDA"/>
                </a:solidFill>
                <a:latin typeface="Calibri" pitchFamily="34" charset="0"/>
                <a:ea typeface="Calibri" pitchFamily="34" charset="-122"/>
                <a:cs typeface="Calibri" pitchFamily="34" charset="-120"/>
              </a:rPr>
              <a:t>11 vibes  |  Dominance-first logic  |  4 inputs</a:t>
            </a:r>
            <a:endParaRPr lang="en-US" sz="1100" dirty="0"/>
          </a:p>
        </p:txBody>
      </p:sp>
      <p:sp>
        <p:nvSpPr>
          <p:cNvPr id="7" name="Text 5"/>
          <p:cNvSpPr/>
          <p:nvPr/>
        </p:nvSpPr>
        <p:spPr>
          <a:xfrm>
            <a:off x="502920" y="1691640"/>
            <a:ext cx="3749040" cy="292608"/>
          </a:xfrm>
          <a:prstGeom prst="rect">
            <a:avLst/>
          </a:prstGeom>
          <a:noFill/>
          <a:ln/>
        </p:spPr>
        <p:txBody>
          <a:bodyPr wrap="square" rtlCol="0" anchor="ctr"/>
          <a:lstStyle/>
          <a:p>
            <a:pPr marL="0" indent="0">
              <a:buNone/>
            </a:pPr>
            <a:r>
              <a:rPr lang="en-US" sz="1100" dirty="0">
                <a:solidFill>
                  <a:srgbClr val="1565C0"/>
                </a:solidFill>
                <a:latin typeface="Calibri" pitchFamily="34" charset="0"/>
                <a:ea typeface="Calibri" pitchFamily="34" charset="-122"/>
                <a:cs typeface="Calibri" pitchFamily="34" charset="-120"/>
              </a:rPr>
              <a:t>→  apparent_temperature_max</a:t>
            </a:r>
            <a:endParaRPr lang="en-US" sz="1100" dirty="0"/>
          </a:p>
        </p:txBody>
      </p:sp>
      <p:sp>
        <p:nvSpPr>
          <p:cNvPr id="8" name="Text 6"/>
          <p:cNvSpPr/>
          <p:nvPr/>
        </p:nvSpPr>
        <p:spPr>
          <a:xfrm>
            <a:off x="502920" y="2039112"/>
            <a:ext cx="3749040" cy="292608"/>
          </a:xfrm>
          <a:prstGeom prst="rect">
            <a:avLst/>
          </a:prstGeom>
          <a:noFill/>
          <a:ln/>
        </p:spPr>
        <p:txBody>
          <a:bodyPr wrap="square" rtlCol="0" anchor="ctr"/>
          <a:lstStyle/>
          <a:p>
            <a:pPr marL="0" indent="0">
              <a:buNone/>
            </a:pPr>
            <a:r>
              <a:rPr lang="en-US" sz="1100" dirty="0">
                <a:solidFill>
                  <a:srgbClr val="1565C0"/>
                </a:solidFill>
                <a:latin typeface="Calibri" pitchFamily="34" charset="0"/>
                <a:ea typeface="Calibri" pitchFamily="34" charset="-122"/>
                <a:cs typeface="Calibri" pitchFamily="34" charset="-120"/>
              </a:rPr>
              <a:t>→  precipitation_sum</a:t>
            </a:r>
            <a:endParaRPr lang="en-US" sz="1100" dirty="0"/>
          </a:p>
        </p:txBody>
      </p:sp>
      <p:sp>
        <p:nvSpPr>
          <p:cNvPr id="9" name="Text 7"/>
          <p:cNvSpPr/>
          <p:nvPr/>
        </p:nvSpPr>
        <p:spPr>
          <a:xfrm>
            <a:off x="502920" y="2386584"/>
            <a:ext cx="3749040" cy="292608"/>
          </a:xfrm>
          <a:prstGeom prst="rect">
            <a:avLst/>
          </a:prstGeom>
          <a:noFill/>
          <a:ln/>
        </p:spPr>
        <p:txBody>
          <a:bodyPr wrap="square" rtlCol="0" anchor="ctr"/>
          <a:lstStyle/>
          <a:p>
            <a:pPr marL="0" indent="0">
              <a:buNone/>
            </a:pPr>
            <a:r>
              <a:rPr lang="en-US" sz="1100" dirty="0">
                <a:solidFill>
                  <a:srgbClr val="1565C0"/>
                </a:solidFill>
                <a:latin typeface="Calibri" pitchFamily="34" charset="0"/>
                <a:ea typeface="Calibri" pitchFamily="34" charset="-122"/>
                <a:cs typeface="Calibri" pitchFamily="34" charset="-120"/>
              </a:rPr>
              <a:t>→  precipitation_hours  (2nd rain signal)</a:t>
            </a:r>
            <a:endParaRPr lang="en-US" sz="1100" dirty="0"/>
          </a:p>
        </p:txBody>
      </p:sp>
      <p:sp>
        <p:nvSpPr>
          <p:cNvPr id="10" name="Text 8"/>
          <p:cNvSpPr/>
          <p:nvPr/>
        </p:nvSpPr>
        <p:spPr>
          <a:xfrm>
            <a:off x="502920" y="2734056"/>
            <a:ext cx="3749040" cy="292608"/>
          </a:xfrm>
          <a:prstGeom prst="rect">
            <a:avLst/>
          </a:prstGeom>
          <a:noFill/>
          <a:ln/>
        </p:spPr>
        <p:txBody>
          <a:bodyPr wrap="square" rtlCol="0" anchor="ctr"/>
          <a:lstStyle/>
          <a:p>
            <a:pPr marL="0" indent="0">
              <a:buNone/>
            </a:pPr>
            <a:r>
              <a:rPr lang="en-US" sz="1100" dirty="0">
                <a:solidFill>
                  <a:srgbClr val="1565C0"/>
                </a:solidFill>
                <a:latin typeface="Calibri" pitchFamily="34" charset="0"/>
                <a:ea typeface="Calibri" pitchFamily="34" charset="-122"/>
                <a:cs typeface="Calibri" pitchFamily="34" charset="-120"/>
              </a:rPr>
              <a:t>→  wind_speed_10m_max</a:t>
            </a:r>
            <a:endParaRPr lang="en-US" sz="1100" dirty="0"/>
          </a:p>
        </p:txBody>
      </p:sp>
      <p:sp>
        <p:nvSpPr>
          <p:cNvPr id="11" name="Text 9"/>
          <p:cNvSpPr/>
          <p:nvPr/>
        </p:nvSpPr>
        <p:spPr>
          <a:xfrm>
            <a:off x="457200" y="3154680"/>
            <a:ext cx="3840480" cy="594360"/>
          </a:xfrm>
          <a:prstGeom prst="rect">
            <a:avLst/>
          </a:prstGeom>
          <a:noFill/>
          <a:ln/>
        </p:spPr>
        <p:txBody>
          <a:bodyPr wrap="square" rtlCol="0" anchor="ctr"/>
          <a:lstStyle/>
          <a:p>
            <a:pPr marL="0" indent="0">
              <a:buNone/>
            </a:pPr>
            <a:r>
              <a:rPr lang="en-US" sz="1100" dirty="0">
                <a:solidFill>
                  <a:srgbClr val="333355"/>
                </a:solidFill>
                <a:latin typeface="Calibri" pitchFamily="34" charset="0"/>
                <a:ea typeface="Calibri" pitchFamily="34" charset="-122"/>
                <a:cs typeface="Calibri" pitchFamily="34" charset="-120"/>
              </a:rPr>
              <a:t>Meaningful rain = precip &gt;= 0.10 in OR hours &gt;= 2</a:t>
            </a:r>
            <a:endParaRPr lang="en-US" sz="1100" dirty="0"/>
          </a:p>
          <a:p>
            <a:pPr marL="0" indent="0">
              <a:buNone/>
            </a:pPr>
            <a:r>
              <a:rPr lang="en-US" sz="1100" dirty="0">
                <a:solidFill>
                  <a:srgbClr val="333355"/>
                </a:solidFill>
                <a:latin typeface="Calibri" pitchFamily="34" charset="0"/>
                <a:ea typeface="Calibri" pitchFamily="34" charset="-122"/>
                <a:cs typeface="Calibri" pitchFamily="34" charset="-120"/>
              </a:rPr>
              <a:t>Dominant condition wins — strongest vibe first</a:t>
            </a:r>
            <a:endParaRPr lang="en-US" sz="1100" dirty="0"/>
          </a:p>
        </p:txBody>
      </p:sp>
      <p:sp>
        <p:nvSpPr>
          <p:cNvPr id="12" name="Shape 10"/>
          <p:cNvSpPr/>
          <p:nvPr/>
        </p:nvSpPr>
        <p:spPr>
          <a:xfrm>
            <a:off x="457200" y="3840480"/>
            <a:ext cx="3749040" cy="246888"/>
          </a:xfrm>
          <a:prstGeom prst="rect">
            <a:avLst/>
          </a:prstGeom>
          <a:solidFill>
            <a:srgbClr val="EBF0FA"/>
          </a:solidFill>
          <a:ln w="12700">
            <a:solidFill>
              <a:srgbClr val="D0D8F0"/>
            </a:solidFill>
            <a:prstDash val="solid"/>
          </a:ln>
        </p:spPr>
        <p:txBody>
          <a:bodyPr/>
          <a:lstStyle/>
          <a:p>
            <a:endParaRPr lang="en-US"/>
          </a:p>
        </p:txBody>
      </p:sp>
      <p:sp>
        <p:nvSpPr>
          <p:cNvPr id="13" name="Text 11"/>
          <p:cNvSpPr/>
          <p:nvPr/>
        </p:nvSpPr>
        <p:spPr>
          <a:xfrm>
            <a:off x="548640" y="3849624"/>
            <a:ext cx="3657600" cy="228600"/>
          </a:xfrm>
          <a:prstGeom prst="rect">
            <a:avLst/>
          </a:prstGeom>
          <a:noFill/>
          <a:ln/>
        </p:spPr>
        <p:txBody>
          <a:bodyPr wrap="square" rtlCol="0" anchor="ctr"/>
          <a:lstStyle/>
          <a:p>
            <a:pPr marL="0" indent="0">
              <a:buNone/>
            </a:pPr>
            <a:r>
              <a:rPr lang="en-US" sz="1000" dirty="0">
                <a:solidFill>
                  <a:srgbClr val="1E2761"/>
                </a:solidFill>
                <a:latin typeface="Calibri" pitchFamily="34" charset="0"/>
                <a:ea typeface="Calibri" pitchFamily="34" charset="-122"/>
                <a:cs typeface="Calibri" pitchFamily="34" charset="-120"/>
              </a:rPr>
              <a:t>⛈️  Dramatic Weather Era</a:t>
            </a:r>
            <a:endParaRPr lang="en-US" sz="1000" dirty="0"/>
          </a:p>
        </p:txBody>
      </p:sp>
      <p:sp>
        <p:nvSpPr>
          <p:cNvPr id="14" name="Shape 12"/>
          <p:cNvSpPr/>
          <p:nvPr/>
        </p:nvSpPr>
        <p:spPr>
          <a:xfrm>
            <a:off x="457200" y="4133088"/>
            <a:ext cx="3749040" cy="246888"/>
          </a:xfrm>
          <a:prstGeom prst="rect">
            <a:avLst/>
          </a:prstGeom>
          <a:solidFill>
            <a:srgbClr val="F4F7FE"/>
          </a:solidFill>
          <a:ln w="12700">
            <a:solidFill>
              <a:srgbClr val="D0D8F0"/>
            </a:solidFill>
            <a:prstDash val="solid"/>
          </a:ln>
        </p:spPr>
        <p:txBody>
          <a:bodyPr/>
          <a:lstStyle/>
          <a:p>
            <a:endParaRPr lang="en-US"/>
          </a:p>
        </p:txBody>
      </p:sp>
      <p:sp>
        <p:nvSpPr>
          <p:cNvPr id="15" name="Text 13"/>
          <p:cNvSpPr/>
          <p:nvPr/>
        </p:nvSpPr>
        <p:spPr>
          <a:xfrm>
            <a:off x="548640" y="4142232"/>
            <a:ext cx="3657600" cy="228600"/>
          </a:xfrm>
          <a:prstGeom prst="rect">
            <a:avLst/>
          </a:prstGeom>
          <a:noFill/>
          <a:ln/>
        </p:spPr>
        <p:txBody>
          <a:bodyPr wrap="square" rtlCol="0" anchor="ctr"/>
          <a:lstStyle/>
          <a:p>
            <a:pPr marL="0" indent="0">
              <a:buNone/>
            </a:pPr>
            <a:r>
              <a:rPr lang="en-US" sz="1000" dirty="0">
                <a:solidFill>
                  <a:srgbClr val="1E2761"/>
                </a:solidFill>
                <a:latin typeface="Calibri" pitchFamily="34" charset="0"/>
                <a:ea typeface="Calibri" pitchFamily="34" charset="-122"/>
                <a:cs typeface="Calibri" pitchFamily="34" charset="-120"/>
              </a:rPr>
              <a:t>🌧️🥵  Hot Mess Express</a:t>
            </a:r>
            <a:endParaRPr lang="en-US" sz="1000" dirty="0"/>
          </a:p>
        </p:txBody>
      </p:sp>
      <p:sp>
        <p:nvSpPr>
          <p:cNvPr id="16" name="Shape 14"/>
          <p:cNvSpPr/>
          <p:nvPr/>
        </p:nvSpPr>
        <p:spPr>
          <a:xfrm>
            <a:off x="457200" y="4425696"/>
            <a:ext cx="3749040" cy="246888"/>
          </a:xfrm>
          <a:prstGeom prst="rect">
            <a:avLst/>
          </a:prstGeom>
          <a:solidFill>
            <a:srgbClr val="EBF0FA"/>
          </a:solidFill>
          <a:ln w="12700">
            <a:solidFill>
              <a:srgbClr val="D0D8F0"/>
            </a:solidFill>
            <a:prstDash val="solid"/>
          </a:ln>
        </p:spPr>
        <p:txBody>
          <a:bodyPr/>
          <a:lstStyle/>
          <a:p>
            <a:endParaRPr lang="en-US"/>
          </a:p>
        </p:txBody>
      </p:sp>
      <p:sp>
        <p:nvSpPr>
          <p:cNvPr id="17" name="Text 15"/>
          <p:cNvSpPr/>
          <p:nvPr/>
        </p:nvSpPr>
        <p:spPr>
          <a:xfrm>
            <a:off x="548640" y="4434840"/>
            <a:ext cx="3657600" cy="228600"/>
          </a:xfrm>
          <a:prstGeom prst="rect">
            <a:avLst/>
          </a:prstGeom>
          <a:noFill/>
          <a:ln/>
        </p:spPr>
        <p:txBody>
          <a:bodyPr wrap="square" rtlCol="0" anchor="ctr"/>
          <a:lstStyle/>
          <a:p>
            <a:pPr marL="0" indent="0">
              <a:buNone/>
            </a:pPr>
            <a:r>
              <a:rPr lang="en-US" sz="1000" dirty="0">
                <a:solidFill>
                  <a:srgbClr val="1E2761"/>
                </a:solidFill>
                <a:latin typeface="Calibri" pitchFamily="34" charset="0"/>
                <a:ea typeface="Calibri" pitchFamily="34" charset="-122"/>
                <a:cs typeface="Calibri" pitchFamily="34" charset="-120"/>
              </a:rPr>
              <a:t>😎  Main Character Energy</a:t>
            </a:r>
            <a:endParaRPr lang="en-US" sz="1000" dirty="0"/>
          </a:p>
        </p:txBody>
      </p:sp>
      <p:sp>
        <p:nvSpPr>
          <p:cNvPr id="18" name="Shape 16"/>
          <p:cNvSpPr/>
          <p:nvPr/>
        </p:nvSpPr>
        <p:spPr>
          <a:xfrm>
            <a:off x="4617720" y="804672"/>
            <a:ext cx="4206240" cy="3977640"/>
          </a:xfrm>
          <a:prstGeom prst="rect">
            <a:avLst/>
          </a:prstGeom>
          <a:solidFill>
            <a:srgbClr val="FFFFFF"/>
          </a:solidFill>
          <a:ln w="12700">
            <a:solidFill>
              <a:srgbClr val="D0D8F0"/>
            </a:solidFill>
            <a:prstDash val="solid"/>
          </a:ln>
        </p:spPr>
        <p:txBody>
          <a:bodyPr/>
          <a:lstStyle/>
          <a:p>
            <a:endParaRPr lang="en-US"/>
          </a:p>
        </p:txBody>
      </p:sp>
      <p:sp>
        <p:nvSpPr>
          <p:cNvPr id="19" name="Text 17"/>
          <p:cNvSpPr/>
          <p:nvPr/>
        </p:nvSpPr>
        <p:spPr>
          <a:xfrm>
            <a:off x="4754880" y="914400"/>
            <a:ext cx="3931920" cy="347472"/>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7 Data Quality Checks</a:t>
            </a:r>
            <a:endParaRPr lang="en-US" sz="1400" dirty="0"/>
          </a:p>
        </p:txBody>
      </p:sp>
      <p:sp>
        <p:nvSpPr>
          <p:cNvPr id="20" name="Text 18"/>
          <p:cNvSpPr/>
          <p:nvPr/>
        </p:nvSpPr>
        <p:spPr>
          <a:xfrm>
            <a:off x="4754880" y="1298448"/>
            <a:ext cx="3931920" cy="274320"/>
          </a:xfrm>
          <a:prstGeom prst="rect">
            <a:avLst/>
          </a:prstGeom>
          <a:noFill/>
          <a:ln/>
        </p:spPr>
        <p:txBody>
          <a:bodyPr wrap="square" rtlCol="0" anchor="ctr"/>
          <a:lstStyle/>
          <a:p>
            <a:pPr marL="0" indent="0">
              <a:buNone/>
            </a:pPr>
            <a:r>
              <a:rPr lang="en-US" sz="1100" i="1" dirty="0">
                <a:solidFill>
                  <a:srgbClr val="7B9CDA"/>
                </a:solidFill>
                <a:latin typeface="Calibri" pitchFamily="34" charset="0"/>
                <a:ea typeface="Calibri" pitchFamily="34" charset="-122"/>
                <a:cs typeface="Calibri" pitchFamily="34" charset="-120"/>
              </a:rPr>
              <a:t>Pipeline halts and logs FAIL if any check fails</a:t>
            </a:r>
            <a:endParaRPr lang="en-US" sz="1100" dirty="0"/>
          </a:p>
        </p:txBody>
      </p:sp>
      <p:sp>
        <p:nvSpPr>
          <p:cNvPr id="21" name="Shape 19"/>
          <p:cNvSpPr/>
          <p:nvPr/>
        </p:nvSpPr>
        <p:spPr>
          <a:xfrm>
            <a:off x="4754880" y="1691640"/>
            <a:ext cx="292608" cy="292608"/>
          </a:xfrm>
          <a:prstGeom prst="rect">
            <a:avLst/>
          </a:prstGeom>
          <a:solidFill>
            <a:srgbClr val="2E7D32"/>
          </a:solidFill>
          <a:ln w="12700">
            <a:solidFill>
              <a:srgbClr val="2E7D32"/>
            </a:solidFill>
            <a:prstDash val="solid"/>
          </a:ln>
        </p:spPr>
        <p:txBody>
          <a:bodyPr/>
          <a:lstStyle/>
          <a:p>
            <a:endParaRPr lang="en-US"/>
          </a:p>
        </p:txBody>
      </p:sp>
      <p:sp>
        <p:nvSpPr>
          <p:cNvPr id="22" name="Text 20"/>
          <p:cNvSpPr/>
          <p:nvPr/>
        </p:nvSpPr>
        <p:spPr>
          <a:xfrm>
            <a:off x="4754880" y="1700784"/>
            <a:ext cx="292608"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3" name="Text 21"/>
          <p:cNvSpPr/>
          <p:nvPr/>
        </p:nvSpPr>
        <p:spPr>
          <a:xfrm>
            <a:off x="5102352" y="1700784"/>
            <a:ext cx="1463040" cy="2743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Null check</a:t>
            </a:r>
            <a:endParaRPr lang="en-US" sz="1100" dirty="0"/>
          </a:p>
        </p:txBody>
      </p:sp>
      <p:sp>
        <p:nvSpPr>
          <p:cNvPr id="24" name="Text 22"/>
          <p:cNvSpPr/>
          <p:nvPr/>
        </p:nvSpPr>
        <p:spPr>
          <a:xfrm>
            <a:off x="6583680" y="1700784"/>
            <a:ext cx="2103120" cy="274320"/>
          </a:xfrm>
          <a:prstGeom prst="rect">
            <a:avLst/>
          </a:prstGeom>
          <a:noFill/>
          <a:ln/>
        </p:spPr>
        <p:txBody>
          <a:bodyPr wrap="square" rtlCol="0" anchor="ctr"/>
          <a:lstStyle/>
          <a:p>
            <a:pPr marL="0" indent="0">
              <a:buNone/>
            </a:pPr>
            <a:r>
              <a:rPr lang="en-US" sz="1000" dirty="0">
                <a:solidFill>
                  <a:srgbClr val="555577"/>
                </a:solidFill>
                <a:latin typeface="Calibri" pitchFamily="34" charset="0"/>
                <a:ea typeface="Calibri" pitchFamily="34" charset="-122"/>
                <a:cs typeface="Calibri" pitchFamily="34" charset="-120"/>
              </a:rPr>
              <a:t>No NaN values after cleaning</a:t>
            </a:r>
            <a:endParaRPr lang="en-US" sz="1000" dirty="0"/>
          </a:p>
        </p:txBody>
      </p:sp>
      <p:sp>
        <p:nvSpPr>
          <p:cNvPr id="25" name="Shape 23"/>
          <p:cNvSpPr/>
          <p:nvPr/>
        </p:nvSpPr>
        <p:spPr>
          <a:xfrm>
            <a:off x="4754880" y="2093976"/>
            <a:ext cx="292608" cy="292608"/>
          </a:xfrm>
          <a:prstGeom prst="rect">
            <a:avLst/>
          </a:prstGeom>
          <a:solidFill>
            <a:srgbClr val="2E7D32"/>
          </a:solidFill>
          <a:ln w="12700">
            <a:solidFill>
              <a:srgbClr val="2E7D32"/>
            </a:solidFill>
            <a:prstDash val="solid"/>
          </a:ln>
        </p:spPr>
        <p:txBody>
          <a:bodyPr/>
          <a:lstStyle/>
          <a:p>
            <a:endParaRPr lang="en-US"/>
          </a:p>
        </p:txBody>
      </p:sp>
      <p:sp>
        <p:nvSpPr>
          <p:cNvPr id="26" name="Text 24"/>
          <p:cNvSpPr/>
          <p:nvPr/>
        </p:nvSpPr>
        <p:spPr>
          <a:xfrm>
            <a:off x="4754880" y="2103120"/>
            <a:ext cx="292608"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7" name="Text 25"/>
          <p:cNvSpPr/>
          <p:nvPr/>
        </p:nvSpPr>
        <p:spPr>
          <a:xfrm>
            <a:off x="5102352" y="2103120"/>
            <a:ext cx="1463040" cy="2743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Duplicate dates</a:t>
            </a:r>
            <a:endParaRPr lang="en-US" sz="1100" dirty="0"/>
          </a:p>
        </p:txBody>
      </p:sp>
      <p:sp>
        <p:nvSpPr>
          <p:cNvPr id="28" name="Text 26"/>
          <p:cNvSpPr/>
          <p:nvPr/>
        </p:nvSpPr>
        <p:spPr>
          <a:xfrm>
            <a:off x="6583680" y="2103120"/>
            <a:ext cx="2103120" cy="274320"/>
          </a:xfrm>
          <a:prstGeom prst="rect">
            <a:avLst/>
          </a:prstGeom>
          <a:noFill/>
          <a:ln/>
        </p:spPr>
        <p:txBody>
          <a:bodyPr wrap="square" rtlCol="0" anchor="ctr"/>
          <a:lstStyle/>
          <a:p>
            <a:pPr marL="0" indent="0">
              <a:buNone/>
            </a:pPr>
            <a:r>
              <a:rPr lang="en-US" sz="1000" dirty="0">
                <a:solidFill>
                  <a:srgbClr val="555577"/>
                </a:solidFill>
                <a:latin typeface="Calibri" pitchFamily="34" charset="0"/>
                <a:ea typeface="Calibri" pitchFamily="34" charset="-122"/>
                <a:cs typeface="Calibri" pitchFamily="34" charset="-120"/>
              </a:rPr>
              <a:t>All 7 dates are unique</a:t>
            </a:r>
            <a:endParaRPr lang="en-US" sz="1000" dirty="0"/>
          </a:p>
        </p:txBody>
      </p:sp>
      <p:sp>
        <p:nvSpPr>
          <p:cNvPr id="29" name="Shape 27"/>
          <p:cNvSpPr/>
          <p:nvPr/>
        </p:nvSpPr>
        <p:spPr>
          <a:xfrm>
            <a:off x="4754880" y="2496312"/>
            <a:ext cx="292608" cy="292608"/>
          </a:xfrm>
          <a:prstGeom prst="rect">
            <a:avLst/>
          </a:prstGeom>
          <a:solidFill>
            <a:srgbClr val="2E7D32"/>
          </a:solidFill>
          <a:ln w="12700">
            <a:solidFill>
              <a:srgbClr val="2E7D32"/>
            </a:solidFill>
            <a:prstDash val="solid"/>
          </a:ln>
        </p:spPr>
        <p:txBody>
          <a:bodyPr/>
          <a:lstStyle/>
          <a:p>
            <a:endParaRPr lang="en-US"/>
          </a:p>
        </p:txBody>
      </p:sp>
      <p:sp>
        <p:nvSpPr>
          <p:cNvPr id="30" name="Text 28"/>
          <p:cNvSpPr/>
          <p:nvPr/>
        </p:nvSpPr>
        <p:spPr>
          <a:xfrm>
            <a:off x="4754880" y="2505456"/>
            <a:ext cx="292608"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1" name="Text 29"/>
          <p:cNvSpPr/>
          <p:nvPr/>
        </p:nvSpPr>
        <p:spPr>
          <a:xfrm>
            <a:off x="5102352" y="2505456"/>
            <a:ext cx="1463040" cy="2743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Row count</a:t>
            </a:r>
            <a:endParaRPr lang="en-US" sz="1100" dirty="0"/>
          </a:p>
        </p:txBody>
      </p:sp>
      <p:sp>
        <p:nvSpPr>
          <p:cNvPr id="32" name="Text 30"/>
          <p:cNvSpPr/>
          <p:nvPr/>
        </p:nvSpPr>
        <p:spPr>
          <a:xfrm>
            <a:off x="6583680" y="2505456"/>
            <a:ext cx="2103120" cy="274320"/>
          </a:xfrm>
          <a:prstGeom prst="rect">
            <a:avLst/>
          </a:prstGeom>
          <a:noFill/>
          <a:ln/>
        </p:spPr>
        <p:txBody>
          <a:bodyPr wrap="square" rtlCol="0" anchor="ctr"/>
          <a:lstStyle/>
          <a:p>
            <a:pPr marL="0" indent="0">
              <a:buNone/>
            </a:pPr>
            <a:r>
              <a:rPr lang="en-US" sz="1000" dirty="0">
                <a:solidFill>
                  <a:srgbClr val="555577"/>
                </a:solidFill>
                <a:latin typeface="Calibri" pitchFamily="34" charset="0"/>
                <a:ea typeface="Calibri" pitchFamily="34" charset="-122"/>
                <a:cs typeface="Calibri" pitchFamily="34" charset="-120"/>
              </a:rPr>
              <a:t>Exactly 7 rows expected</a:t>
            </a:r>
            <a:endParaRPr lang="en-US" sz="1000" dirty="0"/>
          </a:p>
        </p:txBody>
      </p:sp>
      <p:sp>
        <p:nvSpPr>
          <p:cNvPr id="33" name="Shape 31"/>
          <p:cNvSpPr/>
          <p:nvPr/>
        </p:nvSpPr>
        <p:spPr>
          <a:xfrm>
            <a:off x="4754880" y="2898648"/>
            <a:ext cx="292608" cy="292608"/>
          </a:xfrm>
          <a:prstGeom prst="rect">
            <a:avLst/>
          </a:prstGeom>
          <a:solidFill>
            <a:srgbClr val="2E7D32"/>
          </a:solidFill>
          <a:ln w="12700">
            <a:solidFill>
              <a:srgbClr val="2E7D32"/>
            </a:solidFill>
            <a:prstDash val="solid"/>
          </a:ln>
        </p:spPr>
        <p:txBody>
          <a:bodyPr/>
          <a:lstStyle/>
          <a:p>
            <a:endParaRPr lang="en-US"/>
          </a:p>
        </p:txBody>
      </p:sp>
      <p:sp>
        <p:nvSpPr>
          <p:cNvPr id="34" name="Text 32"/>
          <p:cNvSpPr/>
          <p:nvPr/>
        </p:nvSpPr>
        <p:spPr>
          <a:xfrm>
            <a:off x="4754880" y="2907792"/>
            <a:ext cx="292608"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5" name="Text 33"/>
          <p:cNvSpPr/>
          <p:nvPr/>
        </p:nvSpPr>
        <p:spPr>
          <a:xfrm>
            <a:off x="5102352" y="2907792"/>
            <a:ext cx="1463040" cy="2743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Temp range</a:t>
            </a:r>
            <a:endParaRPr lang="en-US" sz="1100" dirty="0"/>
          </a:p>
        </p:txBody>
      </p:sp>
      <p:sp>
        <p:nvSpPr>
          <p:cNvPr id="36" name="Text 34"/>
          <p:cNvSpPr/>
          <p:nvPr/>
        </p:nvSpPr>
        <p:spPr>
          <a:xfrm>
            <a:off x="6583680" y="2907792"/>
            <a:ext cx="2103120" cy="274320"/>
          </a:xfrm>
          <a:prstGeom prst="rect">
            <a:avLst/>
          </a:prstGeom>
          <a:noFill/>
          <a:ln/>
        </p:spPr>
        <p:txBody>
          <a:bodyPr wrap="square" rtlCol="0" anchor="ctr"/>
          <a:lstStyle/>
          <a:p>
            <a:pPr marL="0" indent="0">
              <a:buNone/>
            </a:pPr>
            <a:r>
              <a:rPr lang="en-US" sz="1000" dirty="0">
                <a:solidFill>
                  <a:srgbClr val="555577"/>
                </a:solidFill>
                <a:latin typeface="Calibri" pitchFamily="34" charset="0"/>
                <a:ea typeface="Calibri" pitchFamily="34" charset="-122"/>
                <a:cs typeface="Calibri" pitchFamily="34" charset="-120"/>
              </a:rPr>
              <a:t>-50F to 130F bounds check</a:t>
            </a:r>
            <a:endParaRPr lang="en-US" sz="1000" dirty="0"/>
          </a:p>
        </p:txBody>
      </p:sp>
      <p:sp>
        <p:nvSpPr>
          <p:cNvPr id="37" name="Shape 35"/>
          <p:cNvSpPr/>
          <p:nvPr/>
        </p:nvSpPr>
        <p:spPr>
          <a:xfrm>
            <a:off x="4754880" y="3300984"/>
            <a:ext cx="292608" cy="292608"/>
          </a:xfrm>
          <a:prstGeom prst="rect">
            <a:avLst/>
          </a:prstGeom>
          <a:solidFill>
            <a:srgbClr val="2E7D32"/>
          </a:solidFill>
          <a:ln w="12700">
            <a:solidFill>
              <a:srgbClr val="2E7D32"/>
            </a:solidFill>
            <a:prstDash val="solid"/>
          </a:ln>
        </p:spPr>
        <p:txBody>
          <a:bodyPr/>
          <a:lstStyle/>
          <a:p>
            <a:endParaRPr lang="en-US"/>
          </a:p>
        </p:txBody>
      </p:sp>
      <p:sp>
        <p:nvSpPr>
          <p:cNvPr id="38" name="Text 36"/>
          <p:cNvSpPr/>
          <p:nvPr/>
        </p:nvSpPr>
        <p:spPr>
          <a:xfrm>
            <a:off x="4754880" y="3310128"/>
            <a:ext cx="292608"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9" name="Text 37"/>
          <p:cNvSpPr/>
          <p:nvPr/>
        </p:nvSpPr>
        <p:spPr>
          <a:xfrm>
            <a:off x="5102352" y="3310128"/>
            <a:ext cx="1463040" cy="2743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Precipitation</a:t>
            </a:r>
            <a:endParaRPr lang="en-US" sz="1100" dirty="0"/>
          </a:p>
        </p:txBody>
      </p:sp>
      <p:sp>
        <p:nvSpPr>
          <p:cNvPr id="40" name="Text 38"/>
          <p:cNvSpPr/>
          <p:nvPr/>
        </p:nvSpPr>
        <p:spPr>
          <a:xfrm>
            <a:off x="6583680" y="3310128"/>
            <a:ext cx="2103120" cy="274320"/>
          </a:xfrm>
          <a:prstGeom prst="rect">
            <a:avLst/>
          </a:prstGeom>
          <a:noFill/>
          <a:ln/>
        </p:spPr>
        <p:txBody>
          <a:bodyPr wrap="square" rtlCol="0" anchor="ctr"/>
          <a:lstStyle/>
          <a:p>
            <a:pPr marL="0" indent="0">
              <a:buNone/>
            </a:pPr>
            <a:r>
              <a:rPr lang="en-US" sz="1000" dirty="0">
                <a:solidFill>
                  <a:srgbClr val="555577"/>
                </a:solidFill>
                <a:latin typeface="Calibri" pitchFamily="34" charset="0"/>
                <a:ea typeface="Calibri" pitchFamily="34" charset="-122"/>
                <a:cs typeface="Calibri" pitchFamily="34" charset="-120"/>
              </a:rPr>
              <a:t>No negative values</a:t>
            </a:r>
            <a:endParaRPr lang="en-US" sz="1000" dirty="0"/>
          </a:p>
        </p:txBody>
      </p:sp>
      <p:sp>
        <p:nvSpPr>
          <p:cNvPr id="41" name="Shape 39"/>
          <p:cNvSpPr/>
          <p:nvPr/>
        </p:nvSpPr>
        <p:spPr>
          <a:xfrm>
            <a:off x="4754880" y="3703320"/>
            <a:ext cx="292608" cy="292608"/>
          </a:xfrm>
          <a:prstGeom prst="rect">
            <a:avLst/>
          </a:prstGeom>
          <a:solidFill>
            <a:srgbClr val="2E7D32"/>
          </a:solidFill>
          <a:ln w="12700">
            <a:solidFill>
              <a:srgbClr val="2E7D32"/>
            </a:solidFill>
            <a:prstDash val="solid"/>
          </a:ln>
        </p:spPr>
        <p:txBody>
          <a:bodyPr/>
          <a:lstStyle/>
          <a:p>
            <a:endParaRPr lang="en-US"/>
          </a:p>
        </p:txBody>
      </p:sp>
      <p:sp>
        <p:nvSpPr>
          <p:cNvPr id="42" name="Text 40"/>
          <p:cNvSpPr/>
          <p:nvPr/>
        </p:nvSpPr>
        <p:spPr>
          <a:xfrm>
            <a:off x="4754880" y="3712464"/>
            <a:ext cx="292608"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3" name="Text 41"/>
          <p:cNvSpPr/>
          <p:nvPr/>
        </p:nvSpPr>
        <p:spPr>
          <a:xfrm>
            <a:off x="5102352" y="3712464"/>
            <a:ext cx="1463040" cy="2743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Schema / dtypes</a:t>
            </a:r>
            <a:endParaRPr lang="en-US" sz="1100" dirty="0"/>
          </a:p>
        </p:txBody>
      </p:sp>
      <p:sp>
        <p:nvSpPr>
          <p:cNvPr id="44" name="Text 42"/>
          <p:cNvSpPr/>
          <p:nvPr/>
        </p:nvSpPr>
        <p:spPr>
          <a:xfrm>
            <a:off x="6583680" y="3712464"/>
            <a:ext cx="2103120" cy="274320"/>
          </a:xfrm>
          <a:prstGeom prst="rect">
            <a:avLst/>
          </a:prstGeom>
          <a:noFill/>
          <a:ln/>
        </p:spPr>
        <p:txBody>
          <a:bodyPr wrap="square" rtlCol="0" anchor="ctr"/>
          <a:lstStyle/>
          <a:p>
            <a:pPr marL="0" indent="0">
              <a:buNone/>
            </a:pPr>
            <a:r>
              <a:rPr lang="en-US" sz="1000" dirty="0">
                <a:solidFill>
                  <a:srgbClr val="555577"/>
                </a:solidFill>
                <a:latin typeface="Calibri" pitchFamily="34" charset="0"/>
                <a:ea typeface="Calibri" pitchFamily="34" charset="-122"/>
                <a:cs typeface="Calibri" pitchFamily="34" charset="-120"/>
              </a:rPr>
              <a:t>int64 temps, float64 precip/wind</a:t>
            </a:r>
            <a:endParaRPr lang="en-US" sz="1000" dirty="0"/>
          </a:p>
        </p:txBody>
      </p:sp>
      <p:sp>
        <p:nvSpPr>
          <p:cNvPr id="45" name="Shape 43"/>
          <p:cNvSpPr/>
          <p:nvPr/>
        </p:nvSpPr>
        <p:spPr>
          <a:xfrm>
            <a:off x="4754880" y="4105656"/>
            <a:ext cx="292608" cy="292608"/>
          </a:xfrm>
          <a:prstGeom prst="rect">
            <a:avLst/>
          </a:prstGeom>
          <a:solidFill>
            <a:srgbClr val="2E7D32"/>
          </a:solidFill>
          <a:ln w="12700">
            <a:solidFill>
              <a:srgbClr val="2E7D32"/>
            </a:solidFill>
            <a:prstDash val="solid"/>
          </a:ln>
        </p:spPr>
        <p:txBody>
          <a:bodyPr/>
          <a:lstStyle/>
          <a:p>
            <a:endParaRPr lang="en-US"/>
          </a:p>
        </p:txBody>
      </p:sp>
      <p:sp>
        <p:nvSpPr>
          <p:cNvPr id="46" name="Text 44"/>
          <p:cNvSpPr/>
          <p:nvPr/>
        </p:nvSpPr>
        <p:spPr>
          <a:xfrm>
            <a:off x="4754880" y="4114800"/>
            <a:ext cx="292608"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7" name="Text 45"/>
          <p:cNvSpPr/>
          <p:nvPr/>
        </p:nvSpPr>
        <p:spPr>
          <a:xfrm>
            <a:off x="5102352" y="4114800"/>
            <a:ext cx="1463040" cy="2743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Vibe completeness</a:t>
            </a:r>
            <a:endParaRPr lang="en-US" sz="1100" dirty="0"/>
          </a:p>
        </p:txBody>
      </p:sp>
      <p:sp>
        <p:nvSpPr>
          <p:cNvPr id="48" name="Text 46"/>
          <p:cNvSpPr/>
          <p:nvPr/>
        </p:nvSpPr>
        <p:spPr>
          <a:xfrm>
            <a:off x="6583680" y="4114800"/>
            <a:ext cx="2103120" cy="274320"/>
          </a:xfrm>
          <a:prstGeom prst="rect">
            <a:avLst/>
          </a:prstGeom>
          <a:noFill/>
          <a:ln/>
        </p:spPr>
        <p:txBody>
          <a:bodyPr wrap="square" rtlCol="0" anchor="ctr"/>
          <a:lstStyle/>
          <a:p>
            <a:pPr marL="0" indent="0">
              <a:buNone/>
            </a:pPr>
            <a:r>
              <a:rPr lang="en-US" sz="1000" dirty="0">
                <a:solidFill>
                  <a:srgbClr val="555577"/>
                </a:solidFill>
                <a:latin typeface="Calibri" pitchFamily="34" charset="0"/>
                <a:ea typeface="Calibri" pitchFamily="34" charset="-122"/>
                <a:cs typeface="Calibri" pitchFamily="34" charset="-120"/>
              </a:rPr>
              <a:t>Every row has a vibe label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E"/>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w="12700">
            <a:solidFill>
              <a:srgbClr val="1E2761"/>
            </a:solidFill>
            <a:prstDash val="solid"/>
          </a:ln>
        </p:spPr>
        <p:txBody>
          <a:bodyPr/>
          <a:lstStyle/>
          <a:p>
            <a:endParaRPr lang="en-US"/>
          </a:p>
        </p:txBody>
      </p:sp>
      <p:sp>
        <p:nvSpPr>
          <p:cNvPr id="3" name="Text 1"/>
          <p:cNvSpPr/>
          <p:nvPr/>
        </p:nvSpPr>
        <p:spPr>
          <a:xfrm>
            <a:off x="365760" y="0"/>
            <a:ext cx="8229600" cy="6858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Dashboard Demonstration</a:t>
            </a:r>
            <a:endParaRPr lang="en-US" sz="2200" dirty="0"/>
          </a:p>
        </p:txBody>
      </p:sp>
      <p:sp>
        <p:nvSpPr>
          <p:cNvPr id="4" name="Text 2"/>
          <p:cNvSpPr/>
          <p:nvPr/>
        </p:nvSpPr>
        <p:spPr>
          <a:xfrm>
            <a:off x="320040" y="777240"/>
            <a:ext cx="850392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Power BI Dashboard — Louisville, KY 7-Day Weather Vibe Guide</a:t>
            </a:r>
            <a:endParaRPr lang="en-US" sz="1300" dirty="0"/>
          </a:p>
        </p:txBody>
      </p:sp>
      <p:sp>
        <p:nvSpPr>
          <p:cNvPr id="53" name="Text 51"/>
          <p:cNvSpPr/>
          <p:nvPr/>
        </p:nvSpPr>
        <p:spPr>
          <a:xfrm>
            <a:off x="320040" y="4754880"/>
            <a:ext cx="8503920" cy="256032"/>
          </a:xfrm>
          <a:prstGeom prst="rect">
            <a:avLst/>
          </a:prstGeom>
          <a:noFill/>
          <a:ln/>
        </p:spPr>
        <p:txBody>
          <a:bodyPr wrap="square" rtlCol="0" anchor="ctr"/>
          <a:lstStyle/>
          <a:p>
            <a:pPr marL="0" indent="0" algn="ctr">
              <a:buNone/>
            </a:pPr>
            <a:r>
              <a:rPr lang="en-US" sz="1100" i="1" dirty="0">
                <a:solidFill>
                  <a:srgbClr val="7B9CDA"/>
                </a:solidFill>
                <a:latin typeface="Calibri" pitchFamily="34" charset="0"/>
                <a:ea typeface="Calibri" pitchFamily="34" charset="-122"/>
                <a:cs typeface="Calibri" pitchFamily="34" charset="-120"/>
              </a:rPr>
              <a:t>Live demo — Power BI dashboard filtering by vibe in real time</a:t>
            </a:r>
            <a:endParaRPr lang="en-US" sz="1100" dirty="0"/>
          </a:p>
        </p:txBody>
      </p:sp>
      <p:pic>
        <p:nvPicPr>
          <p:cNvPr id="55" name="Picture 54">
            <a:extLst>
              <a:ext uri="{FF2B5EF4-FFF2-40B4-BE49-F238E27FC236}">
                <a16:creationId xmlns:a16="http://schemas.microsoft.com/office/drawing/2014/main" id="{64385668-EA5F-C45B-13F7-B12544B3B299}"/>
              </a:ext>
            </a:extLst>
          </p:cNvPr>
          <p:cNvPicPr>
            <a:picLocks noChangeAspect="1"/>
          </p:cNvPicPr>
          <p:nvPr/>
        </p:nvPicPr>
        <p:blipFill>
          <a:blip r:embed="rId3"/>
          <a:stretch>
            <a:fillRect/>
          </a:stretch>
        </p:blipFill>
        <p:spPr>
          <a:xfrm>
            <a:off x="966019" y="1097280"/>
            <a:ext cx="6873522" cy="398789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526"/>
    </mc:Choice>
    <mc:Fallback>
      <p:transition spd="slow" advTm="6526"/>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2F2D1A-C5A6-51F1-CFD9-B7AB81A2004D}"/>
              </a:ext>
            </a:extLst>
          </p:cNvPr>
          <p:cNvPicPr>
            <a:picLocks noChangeAspect="1"/>
          </p:cNvPicPr>
          <p:nvPr/>
        </p:nvPicPr>
        <p:blipFill>
          <a:blip r:embed="rId3"/>
          <a:stretch>
            <a:fillRect/>
          </a:stretch>
        </p:blipFill>
        <p:spPr>
          <a:xfrm>
            <a:off x="48276" y="0"/>
            <a:ext cx="9047448" cy="5143500"/>
          </a:xfrm>
          <a:prstGeom prst="rect">
            <a:avLst/>
          </a:prstGeom>
        </p:spPr>
      </p:pic>
    </p:spTree>
    <p:extLst>
      <p:ext uri="{BB962C8B-B14F-4D97-AF65-F5344CB8AC3E}">
        <p14:creationId xmlns:p14="http://schemas.microsoft.com/office/powerpoint/2010/main" val="3788161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2" name="Add-in 1" title="Microsoft Power BI">
                <a:extLst>
                  <a:ext uri="{FF2B5EF4-FFF2-40B4-BE49-F238E27FC236}">
                    <a16:creationId xmlns:a16="http://schemas.microsoft.com/office/drawing/2014/main" id="{5FFB6016-5943-31DD-49DA-A8A740D539ED}"/>
                  </a:ext>
                </a:extLst>
              </p:cNvPr>
              <p:cNvGraphicFramePr>
                <a:graphicFrameLocks noGrp="1"/>
              </p:cNvGraphicFramePr>
              <p:nvPr/>
            </p:nvGraphicFramePr>
            <p:xfrm>
              <a:off x="0" y="-144780"/>
              <a:ext cx="9144000" cy="5433060"/>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2" name="Add-in 1" title="Microsoft Power BI">
                <a:extLst>
                  <a:ext uri="{FF2B5EF4-FFF2-40B4-BE49-F238E27FC236}">
                    <a16:creationId xmlns:a16="http://schemas.microsoft.com/office/drawing/2014/main" id="{5FFB6016-5943-31DD-49DA-A8A740D539ED}"/>
                  </a:ext>
                </a:extLst>
              </p:cNvPr>
              <p:cNvPicPr>
                <a:picLocks noGrp="1" noRot="1" noChangeAspect="1" noMove="1" noResize="1" noEditPoints="1" noAdjustHandles="1" noChangeArrowheads="1" noChangeShapeType="1"/>
              </p:cNvPicPr>
              <p:nvPr/>
            </p:nvPicPr>
            <p:blipFill>
              <a:blip r:embed="rId4"/>
              <a:stretch>
                <a:fillRect/>
              </a:stretch>
            </p:blipFill>
            <p:spPr>
              <a:xfrm>
                <a:off x="0" y="-144780"/>
                <a:ext cx="9144000" cy="5433060"/>
              </a:xfrm>
              <a:prstGeom prst="rect">
                <a:avLst/>
              </a:prstGeom>
            </p:spPr>
          </p:pic>
        </mc:Fallback>
      </mc:AlternateContent>
    </p:spTree>
    <p:extLst>
      <p:ext uri="{BB962C8B-B14F-4D97-AF65-F5344CB8AC3E}">
        <p14:creationId xmlns:p14="http://schemas.microsoft.com/office/powerpoint/2010/main" val="804750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4F7FE"/>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w="12700">
            <a:solidFill>
              <a:srgbClr val="1E2761"/>
            </a:solidFill>
            <a:prstDash val="solid"/>
          </a:ln>
        </p:spPr>
        <p:txBody>
          <a:bodyPr/>
          <a:lstStyle/>
          <a:p>
            <a:endParaRPr lang="en-US"/>
          </a:p>
        </p:txBody>
      </p:sp>
      <p:sp>
        <p:nvSpPr>
          <p:cNvPr id="3" name="Text 1"/>
          <p:cNvSpPr/>
          <p:nvPr/>
        </p:nvSpPr>
        <p:spPr>
          <a:xfrm>
            <a:off x="365760" y="0"/>
            <a:ext cx="8229600" cy="6858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Insights and Business Value</a:t>
            </a:r>
            <a:endParaRPr lang="en-US" sz="2200" dirty="0"/>
          </a:p>
        </p:txBody>
      </p:sp>
      <p:sp>
        <p:nvSpPr>
          <p:cNvPr id="4" name="Shape 2"/>
          <p:cNvSpPr/>
          <p:nvPr/>
        </p:nvSpPr>
        <p:spPr>
          <a:xfrm>
            <a:off x="320040" y="822960"/>
            <a:ext cx="4160520" cy="1920240"/>
          </a:xfrm>
          <a:prstGeom prst="rect">
            <a:avLst/>
          </a:prstGeom>
          <a:solidFill>
            <a:srgbClr val="E3F2FD"/>
          </a:solidFill>
          <a:ln w="12700">
            <a:solidFill>
              <a:srgbClr val="1565C0"/>
            </a:solidFill>
            <a:prstDash val="solid"/>
          </a:ln>
        </p:spPr>
        <p:txBody>
          <a:bodyPr/>
          <a:lstStyle/>
          <a:p>
            <a:endParaRPr lang="en-US"/>
          </a:p>
        </p:txBody>
      </p:sp>
      <p:sp>
        <p:nvSpPr>
          <p:cNvPr id="5" name="Shape 3"/>
          <p:cNvSpPr/>
          <p:nvPr/>
        </p:nvSpPr>
        <p:spPr>
          <a:xfrm>
            <a:off x="320040" y="822960"/>
            <a:ext cx="4160520" cy="457200"/>
          </a:xfrm>
          <a:prstGeom prst="rect">
            <a:avLst/>
          </a:prstGeom>
          <a:solidFill>
            <a:srgbClr val="1565C0"/>
          </a:solidFill>
          <a:ln w="12700">
            <a:solidFill>
              <a:srgbClr val="1565C0"/>
            </a:solidFill>
            <a:prstDash val="solid"/>
          </a:ln>
        </p:spPr>
        <p:txBody>
          <a:bodyPr/>
          <a:lstStyle/>
          <a:p>
            <a:endParaRPr lang="en-US"/>
          </a:p>
        </p:txBody>
      </p:sp>
      <p:sp>
        <p:nvSpPr>
          <p:cNvPr id="6" name="Text 4"/>
          <p:cNvSpPr/>
          <p:nvPr/>
        </p:nvSpPr>
        <p:spPr>
          <a:xfrm>
            <a:off x="429768" y="868680"/>
            <a:ext cx="3931920" cy="36576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Temperature is only half the story</a:t>
            </a:r>
            <a:endParaRPr lang="en-US" sz="1200" dirty="0"/>
          </a:p>
        </p:txBody>
      </p:sp>
      <p:sp>
        <p:nvSpPr>
          <p:cNvPr id="7" name="Text 5"/>
          <p:cNvSpPr/>
          <p:nvPr/>
        </p:nvSpPr>
        <p:spPr>
          <a:xfrm>
            <a:off x="429768" y="1353312"/>
            <a:ext cx="3931920" cy="1298448"/>
          </a:xfrm>
          <a:prstGeom prst="rect">
            <a:avLst/>
          </a:prstGeom>
          <a:noFill/>
          <a:ln/>
        </p:spPr>
        <p:txBody>
          <a:bodyPr wrap="square" rtlCol="0" anchor="t"/>
          <a:lstStyle/>
          <a:p>
            <a:pPr marL="0" indent="0">
              <a:buNone/>
            </a:pPr>
            <a:r>
              <a:rPr lang="en-US" sz="1200" dirty="0">
                <a:solidFill>
                  <a:srgbClr val="222244"/>
                </a:solidFill>
                <a:latin typeface="Calibri" pitchFamily="34" charset="0"/>
                <a:ea typeface="Calibri" pitchFamily="34" charset="-122"/>
                <a:cs typeface="Calibri" pitchFamily="34" charset="-120"/>
              </a:rPr>
              <a:t>The temp_range_f metric reveals daily volatility — a 77°F day with a 30°F swing requires a very different wardrobe than one with a 10°F swing.</a:t>
            </a:r>
            <a:endParaRPr lang="en-US" sz="1200" dirty="0"/>
          </a:p>
        </p:txBody>
      </p:sp>
      <p:sp>
        <p:nvSpPr>
          <p:cNvPr id="8" name="Shape 6"/>
          <p:cNvSpPr/>
          <p:nvPr/>
        </p:nvSpPr>
        <p:spPr>
          <a:xfrm>
            <a:off x="4754880" y="822960"/>
            <a:ext cx="4160520" cy="1920240"/>
          </a:xfrm>
          <a:prstGeom prst="rect">
            <a:avLst/>
          </a:prstGeom>
          <a:solidFill>
            <a:srgbClr val="E8F5E9"/>
          </a:solidFill>
          <a:ln w="12700">
            <a:solidFill>
              <a:srgbClr val="2E7D32"/>
            </a:solidFill>
            <a:prstDash val="solid"/>
          </a:ln>
        </p:spPr>
        <p:txBody>
          <a:bodyPr/>
          <a:lstStyle/>
          <a:p>
            <a:endParaRPr lang="en-US"/>
          </a:p>
        </p:txBody>
      </p:sp>
      <p:sp>
        <p:nvSpPr>
          <p:cNvPr id="9" name="Shape 7"/>
          <p:cNvSpPr/>
          <p:nvPr/>
        </p:nvSpPr>
        <p:spPr>
          <a:xfrm>
            <a:off x="4754880" y="822960"/>
            <a:ext cx="4160520" cy="457200"/>
          </a:xfrm>
          <a:prstGeom prst="rect">
            <a:avLst/>
          </a:prstGeom>
          <a:solidFill>
            <a:srgbClr val="2E7D32"/>
          </a:solidFill>
          <a:ln w="12700">
            <a:solidFill>
              <a:srgbClr val="2E7D32"/>
            </a:solidFill>
            <a:prstDash val="solid"/>
          </a:ln>
        </p:spPr>
        <p:txBody>
          <a:bodyPr/>
          <a:lstStyle/>
          <a:p>
            <a:endParaRPr lang="en-US"/>
          </a:p>
        </p:txBody>
      </p:sp>
      <p:sp>
        <p:nvSpPr>
          <p:cNvPr id="10" name="Text 8"/>
          <p:cNvSpPr/>
          <p:nvPr/>
        </p:nvSpPr>
        <p:spPr>
          <a:xfrm>
            <a:off x="4864608" y="868680"/>
            <a:ext cx="3931920" cy="36576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Precipitation hours matter as much as total rain</a:t>
            </a:r>
            <a:endParaRPr lang="en-US" sz="1200" dirty="0"/>
          </a:p>
        </p:txBody>
      </p:sp>
      <p:sp>
        <p:nvSpPr>
          <p:cNvPr id="11" name="Text 9"/>
          <p:cNvSpPr/>
          <p:nvPr/>
        </p:nvSpPr>
        <p:spPr>
          <a:xfrm>
            <a:off x="4864608" y="1353312"/>
            <a:ext cx="3931920" cy="1298448"/>
          </a:xfrm>
          <a:prstGeom prst="rect">
            <a:avLst/>
          </a:prstGeom>
          <a:noFill/>
          <a:ln/>
        </p:spPr>
        <p:txBody>
          <a:bodyPr wrap="square" rtlCol="0" anchor="t"/>
          <a:lstStyle/>
          <a:p>
            <a:pPr marL="0" indent="0">
              <a:buNone/>
            </a:pPr>
            <a:r>
              <a:rPr lang="en-US" sz="1200" dirty="0">
                <a:solidFill>
                  <a:srgbClr val="222244"/>
                </a:solidFill>
                <a:latin typeface="Calibri" pitchFamily="34" charset="0"/>
                <a:ea typeface="Calibri" pitchFamily="34" charset="-122"/>
                <a:cs typeface="Calibri" pitchFamily="34" charset="-120"/>
              </a:rPr>
              <a:t>A day with 0.08 in of rain over 3 hours is more disruptive than 0.15 in over 30 minutes. The dual-signal approach makes vibe classification significantly more accurate.</a:t>
            </a:r>
            <a:endParaRPr lang="en-US" sz="1200" dirty="0"/>
          </a:p>
        </p:txBody>
      </p:sp>
      <p:sp>
        <p:nvSpPr>
          <p:cNvPr id="12" name="Shape 10"/>
          <p:cNvSpPr/>
          <p:nvPr/>
        </p:nvSpPr>
        <p:spPr>
          <a:xfrm>
            <a:off x="320040" y="2926080"/>
            <a:ext cx="4160520" cy="1920240"/>
          </a:xfrm>
          <a:prstGeom prst="rect">
            <a:avLst/>
          </a:prstGeom>
          <a:solidFill>
            <a:srgbClr val="FFF3E0"/>
          </a:solidFill>
          <a:ln w="12700">
            <a:solidFill>
              <a:srgbClr val="E65100"/>
            </a:solidFill>
            <a:prstDash val="solid"/>
          </a:ln>
        </p:spPr>
        <p:txBody>
          <a:bodyPr/>
          <a:lstStyle/>
          <a:p>
            <a:endParaRPr lang="en-US"/>
          </a:p>
        </p:txBody>
      </p:sp>
      <p:sp>
        <p:nvSpPr>
          <p:cNvPr id="13" name="Shape 11"/>
          <p:cNvSpPr/>
          <p:nvPr/>
        </p:nvSpPr>
        <p:spPr>
          <a:xfrm>
            <a:off x="320040" y="2926080"/>
            <a:ext cx="4160520" cy="457200"/>
          </a:xfrm>
          <a:prstGeom prst="rect">
            <a:avLst/>
          </a:prstGeom>
          <a:solidFill>
            <a:srgbClr val="E65100"/>
          </a:solidFill>
          <a:ln w="12700">
            <a:solidFill>
              <a:srgbClr val="E65100"/>
            </a:solidFill>
            <a:prstDash val="solid"/>
          </a:ln>
        </p:spPr>
        <p:txBody>
          <a:bodyPr/>
          <a:lstStyle/>
          <a:p>
            <a:endParaRPr lang="en-US"/>
          </a:p>
        </p:txBody>
      </p:sp>
      <p:sp>
        <p:nvSpPr>
          <p:cNvPr id="14" name="Text 12"/>
          <p:cNvSpPr/>
          <p:nvPr/>
        </p:nvSpPr>
        <p:spPr>
          <a:xfrm>
            <a:off x="429768" y="2971800"/>
            <a:ext cx="3931920" cy="36576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86°F with rain is nothing like 65°F with rain</a:t>
            </a:r>
            <a:endParaRPr lang="en-US" sz="1200" dirty="0"/>
          </a:p>
        </p:txBody>
      </p:sp>
      <p:sp>
        <p:nvSpPr>
          <p:cNvPr id="15" name="Text 13"/>
          <p:cNvSpPr/>
          <p:nvPr/>
        </p:nvSpPr>
        <p:spPr>
          <a:xfrm>
            <a:off x="429768" y="3456432"/>
            <a:ext cx="3931920" cy="1298448"/>
          </a:xfrm>
          <a:prstGeom prst="rect">
            <a:avLst/>
          </a:prstGeom>
          <a:noFill/>
          <a:ln/>
        </p:spPr>
        <p:txBody>
          <a:bodyPr wrap="square" rtlCol="0" anchor="t"/>
          <a:lstStyle/>
          <a:p>
            <a:pPr marL="0" indent="0">
              <a:buNone/>
            </a:pPr>
            <a:r>
              <a:rPr lang="en-US" sz="1200" dirty="0">
                <a:solidFill>
                  <a:srgbClr val="222244"/>
                </a:solidFill>
                <a:latin typeface="Calibri" pitchFamily="34" charset="0"/>
                <a:ea typeface="Calibri" pitchFamily="34" charset="-122"/>
                <a:cs typeface="Calibri" pitchFamily="34" charset="-120"/>
              </a:rPr>
              <a:t>The Hot Mess Express vibe closed a real gap — high-humidity hot rainy days were previously misclassified as Lo-Fi Chill Days until a temperature ceiling was added.</a:t>
            </a:r>
            <a:endParaRPr lang="en-US" sz="1200" dirty="0"/>
          </a:p>
        </p:txBody>
      </p:sp>
      <p:sp>
        <p:nvSpPr>
          <p:cNvPr id="16" name="Shape 14"/>
          <p:cNvSpPr/>
          <p:nvPr/>
        </p:nvSpPr>
        <p:spPr>
          <a:xfrm>
            <a:off x="4754880" y="2926080"/>
            <a:ext cx="4160520" cy="1920240"/>
          </a:xfrm>
          <a:prstGeom prst="rect">
            <a:avLst/>
          </a:prstGeom>
          <a:solidFill>
            <a:srgbClr val="F3E5F5"/>
          </a:solidFill>
          <a:ln w="12700">
            <a:solidFill>
              <a:srgbClr val="6A1B9A"/>
            </a:solidFill>
            <a:prstDash val="solid"/>
          </a:ln>
        </p:spPr>
        <p:txBody>
          <a:bodyPr/>
          <a:lstStyle/>
          <a:p>
            <a:endParaRPr lang="en-US"/>
          </a:p>
        </p:txBody>
      </p:sp>
      <p:sp>
        <p:nvSpPr>
          <p:cNvPr id="17" name="Shape 15"/>
          <p:cNvSpPr/>
          <p:nvPr/>
        </p:nvSpPr>
        <p:spPr>
          <a:xfrm>
            <a:off x="4754880" y="2926080"/>
            <a:ext cx="4160520" cy="457200"/>
          </a:xfrm>
          <a:prstGeom prst="rect">
            <a:avLst/>
          </a:prstGeom>
          <a:solidFill>
            <a:srgbClr val="6A1B9A"/>
          </a:solidFill>
          <a:ln w="12700">
            <a:solidFill>
              <a:srgbClr val="6A1B9A"/>
            </a:solidFill>
            <a:prstDash val="solid"/>
          </a:ln>
        </p:spPr>
        <p:txBody>
          <a:bodyPr/>
          <a:lstStyle/>
          <a:p>
            <a:endParaRPr lang="en-US"/>
          </a:p>
        </p:txBody>
      </p:sp>
      <p:sp>
        <p:nvSpPr>
          <p:cNvPr id="18" name="Text 16"/>
          <p:cNvSpPr/>
          <p:nvPr/>
        </p:nvSpPr>
        <p:spPr>
          <a:xfrm>
            <a:off x="4864608" y="2971800"/>
            <a:ext cx="3931920" cy="36576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Vibes make forecasts actionable</a:t>
            </a:r>
            <a:endParaRPr lang="en-US" sz="1200" dirty="0"/>
          </a:p>
        </p:txBody>
      </p:sp>
      <p:sp>
        <p:nvSpPr>
          <p:cNvPr id="19" name="Text 17"/>
          <p:cNvSpPr/>
          <p:nvPr/>
        </p:nvSpPr>
        <p:spPr>
          <a:xfrm>
            <a:off x="4864608" y="3456432"/>
            <a:ext cx="3931920" cy="1298448"/>
          </a:xfrm>
          <a:prstGeom prst="rect">
            <a:avLst/>
          </a:prstGeom>
          <a:noFill/>
          <a:ln/>
        </p:spPr>
        <p:txBody>
          <a:bodyPr wrap="square" rtlCol="0" anchor="t"/>
          <a:lstStyle/>
          <a:p>
            <a:pPr marL="0" indent="0">
              <a:buNone/>
            </a:pPr>
            <a:r>
              <a:rPr lang="en-US" sz="1200" dirty="0">
                <a:solidFill>
                  <a:srgbClr val="222244"/>
                </a:solidFill>
                <a:latin typeface="Calibri" pitchFamily="34" charset="0"/>
                <a:ea typeface="Calibri" pitchFamily="34" charset="-122"/>
                <a:cs typeface="Calibri" pitchFamily="34" charset="-120"/>
              </a:rPr>
              <a:t>Translating 7 days of numeric data into 11 labeled categories enables filtering, comparison, and planning that raw temperature data cannot support on its own.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6858000" y="-457200"/>
            <a:ext cx="3200400" cy="3200400"/>
          </a:xfrm>
          <a:prstGeom prst="ellipse">
            <a:avLst/>
          </a:prstGeom>
          <a:solidFill>
            <a:srgbClr val="243580"/>
          </a:solidFill>
          <a:ln w="12700">
            <a:solidFill>
              <a:srgbClr val="243580"/>
            </a:solidFill>
            <a:prstDash val="solid"/>
          </a:ln>
        </p:spPr>
        <p:txBody>
          <a:bodyPr/>
          <a:lstStyle/>
          <a:p>
            <a:endParaRPr lang="en-US"/>
          </a:p>
        </p:txBody>
      </p:sp>
      <p:sp>
        <p:nvSpPr>
          <p:cNvPr id="3" name="Shape 1"/>
          <p:cNvSpPr/>
          <p:nvPr/>
        </p:nvSpPr>
        <p:spPr>
          <a:xfrm>
            <a:off x="-731520" y="3200400"/>
            <a:ext cx="2286000" cy="2286000"/>
          </a:xfrm>
          <a:prstGeom prst="ellipse">
            <a:avLst/>
          </a:prstGeom>
          <a:solidFill>
            <a:srgbClr val="162050"/>
          </a:solidFill>
          <a:ln w="12700">
            <a:solidFill>
              <a:srgbClr val="162050"/>
            </a:solidFill>
            <a:prstDash val="solid"/>
          </a:ln>
        </p:spPr>
        <p:txBody>
          <a:bodyPr/>
          <a:lstStyle/>
          <a:p>
            <a:endParaRPr lang="en-US"/>
          </a:p>
        </p:txBody>
      </p:sp>
      <p:sp>
        <p:nvSpPr>
          <p:cNvPr id="4" name="Text 2"/>
          <p:cNvSpPr/>
          <p:nvPr/>
        </p:nvSpPr>
        <p:spPr>
          <a:xfrm>
            <a:off x="457200" y="274320"/>
            <a:ext cx="7772400" cy="59436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Challenges and Lessons Learned</a:t>
            </a:r>
            <a:endParaRPr lang="en-US" sz="2600" dirty="0"/>
          </a:p>
        </p:txBody>
      </p:sp>
      <p:sp>
        <p:nvSpPr>
          <p:cNvPr id="5" name="Shape 3"/>
          <p:cNvSpPr/>
          <p:nvPr/>
        </p:nvSpPr>
        <p:spPr>
          <a:xfrm>
            <a:off x="457200" y="914400"/>
            <a:ext cx="1645920" cy="45720"/>
          </a:xfrm>
          <a:prstGeom prst="rect">
            <a:avLst/>
          </a:prstGeom>
          <a:solidFill>
            <a:srgbClr val="4FC3F7"/>
          </a:solidFill>
          <a:ln w="12700">
            <a:solidFill>
              <a:srgbClr val="4FC3F7"/>
            </a:solidFill>
            <a:prstDash val="solid"/>
          </a:ln>
        </p:spPr>
        <p:txBody>
          <a:bodyPr/>
          <a:lstStyle/>
          <a:p>
            <a:endParaRPr lang="en-US"/>
          </a:p>
        </p:txBody>
      </p:sp>
      <p:sp>
        <p:nvSpPr>
          <p:cNvPr id="6" name="Shape 4"/>
          <p:cNvSpPr/>
          <p:nvPr/>
        </p:nvSpPr>
        <p:spPr>
          <a:xfrm>
            <a:off x="457200" y="1143000"/>
            <a:ext cx="54864" cy="685800"/>
          </a:xfrm>
          <a:prstGeom prst="rect">
            <a:avLst/>
          </a:prstGeom>
          <a:solidFill>
            <a:srgbClr val="4FC3F7"/>
          </a:solidFill>
          <a:ln w="12700">
            <a:solidFill>
              <a:srgbClr val="4FC3F7"/>
            </a:solidFill>
            <a:prstDash val="solid"/>
          </a:ln>
        </p:spPr>
        <p:txBody>
          <a:bodyPr/>
          <a:lstStyle/>
          <a:p>
            <a:endParaRPr lang="en-US"/>
          </a:p>
        </p:txBody>
      </p:sp>
      <p:sp>
        <p:nvSpPr>
          <p:cNvPr id="7" name="Text 5"/>
          <p:cNvSpPr/>
          <p:nvPr/>
        </p:nvSpPr>
        <p:spPr>
          <a:xfrm>
            <a:off x="658368" y="1161288"/>
            <a:ext cx="7772400" cy="274320"/>
          </a:xfrm>
          <a:prstGeom prst="rect">
            <a:avLst/>
          </a:prstGeom>
          <a:noFill/>
          <a:ln/>
        </p:spPr>
        <p:txBody>
          <a:bodyPr wrap="square"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Vibe logic gaps</a:t>
            </a:r>
            <a:endParaRPr lang="en-US" sz="1300" dirty="0"/>
          </a:p>
        </p:txBody>
      </p:sp>
      <p:sp>
        <p:nvSpPr>
          <p:cNvPr id="8" name="Text 6"/>
          <p:cNvSpPr/>
          <p:nvPr/>
        </p:nvSpPr>
        <p:spPr>
          <a:xfrm>
            <a:off x="658368" y="1453896"/>
            <a:ext cx="7772400" cy="502920"/>
          </a:xfrm>
          <a:prstGeom prst="rect">
            <a:avLst/>
          </a:prstGeom>
          <a:noFill/>
          <a:ln/>
        </p:spPr>
        <p:txBody>
          <a:bodyPr wrap="square" rtlCol="0" anchor="ctr"/>
          <a:lstStyle/>
          <a:p>
            <a:pPr marL="0" indent="0">
              <a:buNone/>
            </a:pPr>
            <a:r>
              <a:rPr lang="en-US" sz="1100" dirty="0">
                <a:solidFill>
                  <a:srgbClr val="9EB5D8"/>
                </a:solidFill>
                <a:latin typeface="Calibri" pitchFamily="34" charset="0"/>
                <a:ea typeface="Calibri" pitchFamily="34" charset="-122"/>
                <a:cs typeface="Calibri" pitchFamily="34" charset="-120"/>
              </a:rPr>
              <a:t>86-89°F rainy days were falling through to Existential Meh. Adding temperature ceilings to rain-based vibes and a dedicated Hot Mess Express vibe fixed the classification accurately.</a:t>
            </a:r>
            <a:endParaRPr lang="en-US" sz="1100" dirty="0"/>
          </a:p>
        </p:txBody>
      </p:sp>
      <p:sp>
        <p:nvSpPr>
          <p:cNvPr id="9" name="Shape 7"/>
          <p:cNvSpPr/>
          <p:nvPr/>
        </p:nvSpPr>
        <p:spPr>
          <a:xfrm>
            <a:off x="457200" y="2057400"/>
            <a:ext cx="54864" cy="685800"/>
          </a:xfrm>
          <a:prstGeom prst="rect">
            <a:avLst/>
          </a:prstGeom>
          <a:solidFill>
            <a:srgbClr val="4FC3F7"/>
          </a:solidFill>
          <a:ln w="12700">
            <a:solidFill>
              <a:srgbClr val="4FC3F7"/>
            </a:solidFill>
            <a:prstDash val="solid"/>
          </a:ln>
        </p:spPr>
        <p:txBody>
          <a:bodyPr/>
          <a:lstStyle/>
          <a:p>
            <a:endParaRPr lang="en-US"/>
          </a:p>
        </p:txBody>
      </p:sp>
      <p:sp>
        <p:nvSpPr>
          <p:cNvPr id="10" name="Text 8"/>
          <p:cNvSpPr/>
          <p:nvPr/>
        </p:nvSpPr>
        <p:spPr>
          <a:xfrm>
            <a:off x="658368" y="2075688"/>
            <a:ext cx="7772400" cy="274320"/>
          </a:xfrm>
          <a:prstGeom prst="rect">
            <a:avLst/>
          </a:prstGeom>
          <a:noFill/>
          <a:ln/>
        </p:spPr>
        <p:txBody>
          <a:bodyPr wrap="square"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Schema evolution</a:t>
            </a:r>
            <a:endParaRPr lang="en-US" sz="1300" dirty="0"/>
          </a:p>
        </p:txBody>
      </p:sp>
      <p:sp>
        <p:nvSpPr>
          <p:cNvPr id="11" name="Text 9"/>
          <p:cNvSpPr/>
          <p:nvPr/>
        </p:nvSpPr>
        <p:spPr>
          <a:xfrm>
            <a:off x="658368" y="2368296"/>
            <a:ext cx="7772400" cy="502920"/>
          </a:xfrm>
          <a:prstGeom prst="rect">
            <a:avLst/>
          </a:prstGeom>
          <a:noFill/>
          <a:ln/>
        </p:spPr>
        <p:txBody>
          <a:bodyPr wrap="square" rtlCol="0" anchor="ctr"/>
          <a:lstStyle/>
          <a:p>
            <a:pPr marL="0" indent="0">
              <a:buNone/>
            </a:pPr>
            <a:r>
              <a:rPr lang="en-US" sz="1100" dirty="0">
                <a:solidFill>
                  <a:srgbClr val="9EB5D8"/>
                </a:solidFill>
                <a:latin typeface="Calibri" pitchFamily="34" charset="0"/>
                <a:ea typeface="Calibri" pitchFamily="34" charset="-122"/>
                <a:cs typeface="Calibri" pitchFamily="34" charset="-120"/>
              </a:rPr>
              <a:t>The project grew from 3 tables to 4, then added a flat star schema export layer. Planning the two-layer approach from the start would have saved iteration time.</a:t>
            </a:r>
            <a:endParaRPr lang="en-US" sz="1100" dirty="0"/>
          </a:p>
        </p:txBody>
      </p:sp>
      <p:sp>
        <p:nvSpPr>
          <p:cNvPr id="12" name="Shape 10"/>
          <p:cNvSpPr/>
          <p:nvPr/>
        </p:nvSpPr>
        <p:spPr>
          <a:xfrm>
            <a:off x="457200" y="2971800"/>
            <a:ext cx="54864" cy="685800"/>
          </a:xfrm>
          <a:prstGeom prst="rect">
            <a:avLst/>
          </a:prstGeom>
          <a:solidFill>
            <a:srgbClr val="4FC3F7"/>
          </a:solidFill>
          <a:ln w="12700">
            <a:solidFill>
              <a:srgbClr val="4FC3F7"/>
            </a:solidFill>
            <a:prstDash val="solid"/>
          </a:ln>
        </p:spPr>
        <p:txBody>
          <a:bodyPr/>
          <a:lstStyle/>
          <a:p>
            <a:endParaRPr lang="en-US"/>
          </a:p>
        </p:txBody>
      </p:sp>
      <p:sp>
        <p:nvSpPr>
          <p:cNvPr id="13" name="Text 11"/>
          <p:cNvSpPr/>
          <p:nvPr/>
        </p:nvSpPr>
        <p:spPr>
          <a:xfrm>
            <a:off x="658368" y="2990088"/>
            <a:ext cx="7772400" cy="274320"/>
          </a:xfrm>
          <a:prstGeom prst="rect">
            <a:avLst/>
          </a:prstGeom>
          <a:noFill/>
          <a:ln/>
        </p:spPr>
        <p:txBody>
          <a:bodyPr wrap="square"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Data type consistency</a:t>
            </a:r>
            <a:endParaRPr lang="en-US" sz="1300" dirty="0"/>
          </a:p>
        </p:txBody>
      </p:sp>
      <p:sp>
        <p:nvSpPr>
          <p:cNvPr id="14" name="Text 12"/>
          <p:cNvSpPr/>
          <p:nvPr/>
        </p:nvSpPr>
        <p:spPr>
          <a:xfrm>
            <a:off x="658368" y="3282696"/>
            <a:ext cx="7772400" cy="502920"/>
          </a:xfrm>
          <a:prstGeom prst="rect">
            <a:avLst/>
          </a:prstGeom>
          <a:noFill/>
          <a:ln/>
        </p:spPr>
        <p:txBody>
          <a:bodyPr wrap="square" rtlCol="0" anchor="ctr"/>
          <a:lstStyle/>
          <a:p>
            <a:pPr marL="0" indent="0">
              <a:buNone/>
            </a:pPr>
            <a:r>
              <a:rPr lang="en-US" sz="1100" dirty="0">
                <a:solidFill>
                  <a:srgbClr val="9EB5D8"/>
                </a:solidFill>
                <a:latin typeface="Calibri" pitchFamily="34" charset="0"/>
                <a:ea typeface="Calibri" pitchFamily="34" charset="-122"/>
                <a:cs typeface="Calibri" pitchFamily="34" charset="-120"/>
              </a:rPr>
              <a:t>The Open-Meteo API returns float32 by default. Standardizing to float64 early in the transform stage prevented unexpected schema validation failures downstream.</a:t>
            </a:r>
            <a:endParaRPr lang="en-US" sz="1100" dirty="0"/>
          </a:p>
        </p:txBody>
      </p:sp>
      <p:sp>
        <p:nvSpPr>
          <p:cNvPr id="15" name="Shape 13"/>
          <p:cNvSpPr/>
          <p:nvPr/>
        </p:nvSpPr>
        <p:spPr>
          <a:xfrm>
            <a:off x="457200" y="3886200"/>
            <a:ext cx="54864" cy="685800"/>
          </a:xfrm>
          <a:prstGeom prst="rect">
            <a:avLst/>
          </a:prstGeom>
          <a:solidFill>
            <a:srgbClr val="4FC3F7"/>
          </a:solidFill>
          <a:ln w="12700">
            <a:solidFill>
              <a:srgbClr val="4FC3F7"/>
            </a:solidFill>
            <a:prstDash val="solid"/>
          </a:ln>
        </p:spPr>
        <p:txBody>
          <a:bodyPr/>
          <a:lstStyle/>
          <a:p>
            <a:endParaRPr lang="en-US"/>
          </a:p>
        </p:txBody>
      </p:sp>
      <p:sp>
        <p:nvSpPr>
          <p:cNvPr id="16" name="Text 14"/>
          <p:cNvSpPr/>
          <p:nvPr/>
        </p:nvSpPr>
        <p:spPr>
          <a:xfrm>
            <a:off x="658368" y="3904488"/>
            <a:ext cx="7772400" cy="274320"/>
          </a:xfrm>
          <a:prstGeom prst="rect">
            <a:avLst/>
          </a:prstGeom>
          <a:noFill/>
          <a:ln/>
        </p:spPr>
        <p:txBody>
          <a:bodyPr wrap="square"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Pipeline as documentation</a:t>
            </a:r>
            <a:endParaRPr lang="en-US" sz="1300" dirty="0"/>
          </a:p>
        </p:txBody>
      </p:sp>
      <p:sp>
        <p:nvSpPr>
          <p:cNvPr id="17" name="Text 15"/>
          <p:cNvSpPr/>
          <p:nvPr/>
        </p:nvSpPr>
        <p:spPr>
          <a:xfrm>
            <a:off x="658368" y="4197096"/>
            <a:ext cx="7772400" cy="502920"/>
          </a:xfrm>
          <a:prstGeom prst="rect">
            <a:avLst/>
          </a:prstGeom>
          <a:noFill/>
          <a:ln/>
        </p:spPr>
        <p:txBody>
          <a:bodyPr wrap="square" rtlCol="0" anchor="ctr"/>
          <a:lstStyle/>
          <a:p>
            <a:pPr marL="0" indent="0">
              <a:buNone/>
            </a:pPr>
            <a:r>
              <a:rPr lang="en-US" sz="1100" dirty="0">
                <a:solidFill>
                  <a:srgbClr val="9EB5D8"/>
                </a:solidFill>
                <a:latin typeface="Calibri" pitchFamily="34" charset="0"/>
                <a:ea typeface="Calibri" pitchFamily="34" charset="-122"/>
                <a:cs typeface="Calibri" pitchFamily="34" charset="-120"/>
              </a:rPr>
              <a:t>Investing in structured logging, named validation checks, and detailed docstrings made the 700-line script readable to anyone — including a professor who does not audit every line.</a:t>
            </a:r>
            <a:endParaRPr lang="en-US" sz="1100" dirty="0"/>
          </a:p>
        </p:txBody>
      </p:sp>
      <p:sp>
        <p:nvSpPr>
          <p:cNvPr id="18" name="Text 16"/>
          <p:cNvSpPr/>
          <p:nvPr/>
        </p:nvSpPr>
        <p:spPr>
          <a:xfrm>
            <a:off x="0" y="4800600"/>
            <a:ext cx="9144000" cy="274320"/>
          </a:xfrm>
          <a:prstGeom prst="rect">
            <a:avLst/>
          </a:prstGeom>
          <a:noFill/>
          <a:ln/>
        </p:spPr>
        <p:txBody>
          <a:bodyPr wrap="square" rtlCol="0" anchor="ctr"/>
          <a:lstStyle/>
          <a:p>
            <a:pPr marL="0" indent="0" algn="ctr">
              <a:buNone/>
            </a:pPr>
            <a:r>
              <a:rPr lang="en-US" sz="1000" dirty="0">
                <a:solidFill>
                  <a:srgbClr val="3A5080"/>
                </a:solidFill>
                <a:latin typeface="Calibri" pitchFamily="34" charset="0"/>
                <a:ea typeface="Calibri" pitchFamily="34" charset="-122"/>
                <a:cs typeface="Calibri" pitchFamily="34" charset="-120"/>
              </a:rPr>
              <a:t>Kerry Basham  |  MSBA-692 Pipelines to Insights  |  End-to-End Data Engineering Project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webextension1.xml><?xml version="1.0" encoding="utf-8"?>
<we:webextension xmlns:we="http://schemas.microsoft.com/office/webextensions/webextension/2010/11" id="{70A64718-966F-47CE-BB25-8ACE33135423}">
  <we:reference id="wa200003233" version="2.0.0.3" store="en-US" storeType="OMEX"/>
  <we:alternateReferences>
    <we:reference id="WA200003233" version="2.0.0.3" store="WA200003233" storeType="OMEX"/>
  </we:alternateReferences>
  <we:properties>
    <we:property name="artifactViewState" value="&quot;live&quot;"/>
    <we:property name="backgroundColor" value="&quot;#FFFFFF&quot;"/>
    <we:property name="bookmark" value="&quot;H4sIAAAAAAAAA6VSwWrDMAz9leFzGXYcO0mP23WMQkcvpQfFUTuvbhxip7Qr/ffJSaEwBoPtYkvy83vPsi6ssaFzcH6FA7I5e/J+f4B+/yDYjLVTDXVp+NZoyblCmZW6khWd+i5a3wY2v7AI/Q7jyoYBXCKi4nozY+DcAnYp24ILOGMd9sG34OwnTmA6iv2A1xnDU+d8D4lyGSFioj0SnHKyIB4lKYKJ9ohLNHGqbo2BUnEuVaWgyjkKAQQLE2B09iMkUY/yz76NYFuSGbEFF0LUIiuyQhaaI8fRRrDtzt0M3+++nbvUnIinWPtT6kf9QcKJ6XqlB/FCgsES8kZwVRoNPJN/Z8vqUmvk3OSZziXmqLX6hzelKgk8z3MlTAOGHlv8yhbegfZvXCPdvcIOSJOQAj/E0FEDFtBSvr6wrvf0/dHiiKPvhrbB5hb3aX+xEftJeAVuSJrj3LBRZpOWLwt9OcKvAgAA&quot;"/>
    <we:property name="creatorSessionId" value="&quot;2ec8dcb4-757b-481e-be19-18261d810a26&quot;"/>
    <we:property name="creatorTenantId" value="&quot;dd246e4a-5434-4e15-8ae3-91ad9797b209&quot;"/>
    <we:property name="creatorUserId" value="&quot;10032003D65AE699&quot;"/>
    <we:property name="datasetId" value="&quot;067bf3ef-df40-4504-8451-631966b560e8&quot;"/>
    <we:property name="embedUrl" value="&quot;/reportEmbed?reportId=763ee004-2252-411b-8006-4b6b7b2445e1&amp;config=eyJjbHVzdGVyVXJsIjoiaHR0cHM6Ly9XQUJJLVVTLU5PUlRILUNFTlRSQUwtSC1QUklNQVJZLXJlZGlyZWN0LmFuYWx5c2lzLndpbmRvd3MubmV0IiwiZW1iZWRGZWF0dXJlcyI6eyJ1c2FnZU1ldHJpY3NWTmV4dCI6dHJ1ZX19&amp;disableSensitivityBanner=true&amp;storytellingChangeViewModeShortcutKeys=true&quot;"/>
    <we:property name="initialStateBookmark" value="&quot;H4sIAAAAAAAAA6VSTWsCMRD9KyVnKcl+25stPVk/qMWLSJnNjjY1bpZNVrTif+8kCkIpCO1lk3n78t7LZI6sUrbRcBjDFtkDezRms4V2cydYj9UXbDIZjgavw/fxYPRMsGmcMrVlD0fmoF2jmyvbgfYKBC6WPQZaT2HtqxVoiz3WYGtNDVp94ZlMv1zb4anHcN9o04KXnDlw6GV3RKeavMV9TI4gndrhDKU7oyspoUg5j9N+Cv2EoxBANHsmhGS/Urx0sH8ytQNVk03g5lwIUYooj/I4zzhyDDGsqtf6Evh69u3Q+K443LvS7H0/yk8y9kqnE12I5zFILCCpBE8LmQGP4r+rRWWRZci5TKIsiTHBLEv/kS1N+zHwJElSISuQdNn8ppr9AFp/aAW5K8K2SJPgN6ZztqEGTKGmenFkTWvo+Z3CwKPnhrrC6rJv/fqiHLZn4znoznuGuWHBhLKoUuONA36aWIi19J9vOj+ub9gCAAA=&quot;"/>
    <we:property name="isFiltersActionButtonVisible" value="true"/>
    <we:property name="isVisualContainerHeaderHidden" value="false"/>
    <we:property name="pageDisplayName" value="&quot;Weather Vibe Guide&quot;"/>
    <we:property name="pageName" value="&quot;fcca85003595a940e11a&quot;"/>
    <we:property name="reportEmbeddedTime" value="&quot;2026-06-11T14:23:46.323Z&quot;"/>
    <we:property name="reportName" value="&quot;Weather Vibes&quot;"/>
    <we:property name="reportState" value="&quot;CONNECTED&quot;"/>
    <we:property name="reportUrl" value="&quot;/links/O2rRBj9XJX?ctid=dd246e4a-5434-4e15-8ae3-91ad9797b209&amp;bookmarkGuid=4dce9513-abfd-4468-b1df-db159f93c5b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3006</TotalTime>
  <Words>2651</Words>
  <Application>Microsoft Office PowerPoint</Application>
  <PresentationFormat>On-screen Show (16:9)</PresentationFormat>
  <Paragraphs>288</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Weather Vibes — Executive Presentation</dc:title>
  <dc:subject>PptxGenJS Presentation</dc:subject>
  <dc:creator>Kerry Basham</dc:creator>
  <cp:lastModifiedBy>Basham, Kerry</cp:lastModifiedBy>
  <cp:revision>4</cp:revision>
  <dcterms:created xsi:type="dcterms:W3CDTF">2026-06-08T16:48:30Z</dcterms:created>
  <dcterms:modified xsi:type="dcterms:W3CDTF">2026-06-11T15:51:02Z</dcterms:modified>
</cp:coreProperties>
</file>